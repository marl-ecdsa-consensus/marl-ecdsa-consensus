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51.svg" ContentType="image/svg+xml"/>
  <Override PartName="/ppt/media/image53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32"/>
  </p:handoutMasterIdLst>
  <p:sldIdLst>
    <p:sldId id="256" r:id="rId4"/>
    <p:sldId id="257" r:id="rId6"/>
    <p:sldId id="258" r:id="rId7"/>
    <p:sldId id="259" r:id="rId8"/>
    <p:sldId id="260" r:id="rId9"/>
    <p:sldId id="261" r:id="rId10"/>
    <p:sldId id="279" r:id="rId11"/>
    <p:sldId id="262" r:id="rId12"/>
    <p:sldId id="275" r:id="rId13"/>
    <p:sldId id="263" r:id="rId14"/>
    <p:sldId id="264" r:id="rId15"/>
    <p:sldId id="265" r:id="rId16"/>
    <p:sldId id="266" r:id="rId17"/>
    <p:sldId id="267" r:id="rId18"/>
    <p:sldId id="276" r:id="rId19"/>
    <p:sldId id="268" r:id="rId20"/>
    <p:sldId id="278" r:id="rId21"/>
    <p:sldId id="282" r:id="rId22"/>
    <p:sldId id="269" r:id="rId23"/>
    <p:sldId id="270" r:id="rId24"/>
    <p:sldId id="277" r:id="rId25"/>
    <p:sldId id="271" r:id="rId26"/>
    <p:sldId id="272" r:id="rId27"/>
    <p:sldId id="280" r:id="rId28"/>
    <p:sldId id="281" r:id="rId29"/>
    <p:sldId id="273" r:id="rId30"/>
    <p:sldId id="274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85" userDrawn="1">
          <p15:clr>
            <a:srgbClr val="747775"/>
          </p15:clr>
        </p15:guide>
        <p15:guide id="2" pos="2888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85"/>
        <p:guide pos="2888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老师、同学，大家下午好。我们是来自[学院名称]的[专业名称]专业的学生。今天我们汇报的课程设计项目是“基于ECDSA的安全分布式多智能体协同监控系统”。本次汇报将重点阐述我们如何运用网络编程技术，构建一个安全、高效、可扩展的分布式系统，并将其应用于多智能体协同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们将回顾网络编程的基础知识。其次，介绍项目的背景与网络需求。接着，详细阐述系统的整体架构和网络设计。然后，展示核心网络模块的具体实现。第五部分将通过系统演示和实验数据来验证方案的有效性。最后，对项目进行总结并展望未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项目背景。我们的项目基于多智能体强化学习，这是一个典型的分布式系统。在这样的系统中，网络通信是智能体间协作的生命线。然而，在真实的开放网络环境中，我们面临着通信不可靠、数据不安全、节点不可信以及系统扩展性等一系列挑战。这些问题直接威胁到协作的稳定性和安全性。因此，我们项目的出发点，就是要构建一个能够应对这些挑战的网络通信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这些挑战，我们明确了项目的核心网络需求。首先是可靠的数据传输，我们需要确保消息能够准确无误地在节点间传递。其次是端到端的安全通信，这是本次课设的重点，我们将使用ECDSA数字签名来保障数据的安全。第三是分布式节点管理，要求网络能够动态地适应节点的加入和离开。最后是高并发处理能力，以应对多智能体场景下的大量通信请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目标非常明确，就是要实现一个安全的分布式监控系统，并通过这个过程深入实践网络编程技术。为了衡量我们的工作，我们设定了一系列量化指标。在网络性能方面，我们要求系统能支持至少50个节点并发连接，消息广播延迟低于100毫秒。在网络安全方面，ECDSA身份认证和消息篡改检测的准确率必须达到100%。同时，我们也对系统的可用性提出了要求，确保节点故障能够快速恢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系统架构设计上，我们采用了清晰的四层架构。其中，最底层的分布式网络层是我们本次课设的核心。它负责所有节点间的通信，包括P2P节点通信、自定义的Socket传输协议、节点管理、消息广播和数据同步。上层的区块链核心层和MARL协同层都依赖于这个网络层来传输数据。整个数据流清晰高效：数据经过签名后，通过网络层进行可靠传输，最终为上层应用提供支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网络拓扑方面，我们采用了混合式P2P架构。这种架构结合了中心化和纯P2P的优点，既有负责核心共识的全节点，也有大量可动态扩展的轻节点。节点发现机制是P2P网络的关键。我们通过种子节点引导、节点信息交换和心跳保活机制，实现了节点的动态发现和管理。这种设计使得我们的网络具有良好的去中心化特性、可扩展性和健壮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8本页重点介绍了系统的通信协议设计。首先，我们基于TCP Socket设计了轻量级的JSON应用层协议，将PDU分为Header和Body两部分，分别承载控制信息和业务数据。其次，定义了注册、心跳、交易、区块等核心消息类型，并对应了TCP长连接、序列化、广播等网络编程知识点。最后，从协议结构、安全加固、传输可靠性三个维度回顾了设计要点，确保协议兼具规范性、安全性与实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9在并发处理方面，我们采用了经典的多线程模型。主线程负责监听连接，每来一个新节点，就分配一个独立的工作线程来处理它的所有通信。这种模型简单直观，能有效处理大量并发连接。同时，我们也设计了完善的异常处理机制，包括连接异常处理、数据格式校验、签名验证失败处理以及资源限制，确保了系统在面对异常情况时的稳定性和健壮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10接下来是核心网络模块的实现。这是我们Socket服务端的核心代码。我们使用Python的socket库创建了一个TCP服务器，并调用listen方法开始监听连接。在start方法中，我们进入一个无限循环，等待客户端连接。每当有新连接到来，我们就创建一个新的threading.Thread线程，并将处理该客户端的任务交给这个线程。handle_client方法负责持续接收该客户端的消息，并调用broadcast方法将消息转发给其他所有客户端。这个结构清晰地展示了多线程并发服务器的基本原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11消息广播方面，我们实现了泛洪算法。一个节点收到新消息后，会立刻转发给它的所有邻居，以此类推，消息会迅速扩散到整个网络。为了防止循环转发，我们加入了消息去重机制。在区块同步方面，新节点加入后，会先获取当前网络的最新区块高度，然后向邻居节点请求所有缺失的区块，实现快速同步。这个过程确保了所有节点的数据最终都是一致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12本页重点展示Socket通信中如何结合ECDSA实现安全机制。左侧是发送方流程：构造业务消息后，用私钥生成数字签名，再将消息与签名一起通过Socket发送。中间展示了实际传输的JSON数据包格式，包含消息ID、业务数据和签名串三个核心字段。右侧是接收方流程：收到数据后先获取发送方公钥，对签名进行验证，验证通过才处理业务，失败则触发安全告警。底部补充了核心的Python代码逻辑，并增加了注释，清晰展示了从签名、封装发送到接收解析、验签处置的完整编程实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13为了直观地展示我们的网络系统，我们开发了一个可视化监控面板。这个面板可以实时显示在线节点列表、动态的网络拓扑图以及网络性能指标。通过这个面板，我们可以清晰地观察到节点的动态加入和离开，以及消息在网络中的流动过程。特别是在模拟网络攻击时，我们可以实时看到系统如何检测到异常并发出告警，这为我们验证网络的安全性提供了直观的手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14我们对系统的网络性能进行了全面测试。在并发连接测试中，系统轻松应对了50个节点的同时连接。在吞吐量测试中，系统的峰值处理能力达到了每秒1250条消息。在广播延迟测试中，消息在10个节点的网络中平均85毫秒就能完成全网广播。这些数据表明，我们的系统具备良好的网络性能，完全能够满足多智能体协同场景下的通信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15为了验证网络的安全性，我们进行了两组模拟攻击实验。在第一组实验中，我们模拟了消息篡改攻击。在没有ECDSA防护的情况下，攻击成功。而在启用了ECDSA后，由于签名验证失败，篡改的消息被直接丢弃。在第二组实验中，我们模拟了身份伪造攻击。同样，ECDSA成功地识别并拦截了这种攻击。这些实验充分证明了ECDSA在保障网络通信安全方面的关键作用，确保了数据的完整性和身份的真实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16最后，我们测试了系统的可用性。在节点故障恢复测试中，当一个共识节点宕机后，系统能够在5秒内自动检测并完成故障转移，保证了服务的连续性。在网络分区恢复测试中，当网络从分区状态恢复后，系统能够自动同步数据，最终达成一致。这些测试表明，我们的系统具备良好的容错能力和自我恢复能力，是一个健壮的分布式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17对本次课程设计进行总结。我们的核心贡献在于，实现了一套完整的安全分布式通信系统，并将ECDSA数字签名成功应用于网络安全。通过这次项目，我们系统地实践和总结了网络编程的核心知识点，包括Socket编程、并发编程、网络协议设计、P2P网络技术以及网络安全。这些知识和实践经验，将对我们未来的学习和工作产生重要的影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我们规划了四个主要方向：首先是架构扩展，通过多进程与多主机部署提升系统处理能力；其次是协议扩展，完善功能与机制以增强可靠性；再者是工程落地，推进标准化与自动化部署；最后是验证升级，在真实网络环境中全面测试系统性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我的汇报到此结束，感谢各位老师和同学的聆听。欢迎大家提问。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34" Type="http://schemas.openxmlformats.org/officeDocument/2006/relationships/notesSlide" Target="../notesSlides/notesSlide3.xml"/><Relationship Id="rId33" Type="http://schemas.openxmlformats.org/officeDocument/2006/relationships/slideLayout" Target="../slideLayouts/slideLayout12.xml"/><Relationship Id="rId32" Type="http://schemas.openxmlformats.org/officeDocument/2006/relationships/tags" Target="../tags/tag24.xml"/><Relationship Id="rId31" Type="http://schemas.openxmlformats.org/officeDocument/2006/relationships/tags" Target="../tags/tag23.xml"/><Relationship Id="rId30" Type="http://schemas.openxmlformats.org/officeDocument/2006/relationships/tags" Target="../tags/tag22.xml"/><Relationship Id="rId3" Type="http://schemas.openxmlformats.org/officeDocument/2006/relationships/tags" Target="../tags/tag3.xml"/><Relationship Id="rId29" Type="http://schemas.openxmlformats.org/officeDocument/2006/relationships/image" Target="../media/image8.svg"/><Relationship Id="rId28" Type="http://schemas.openxmlformats.org/officeDocument/2006/relationships/image" Target="../media/image7.png"/><Relationship Id="rId27" Type="http://schemas.openxmlformats.org/officeDocument/2006/relationships/tags" Target="../tags/tag21.xml"/><Relationship Id="rId26" Type="http://schemas.openxmlformats.org/officeDocument/2006/relationships/tags" Target="../tags/tag20.xml"/><Relationship Id="rId25" Type="http://schemas.openxmlformats.org/officeDocument/2006/relationships/tags" Target="../tags/tag19.xml"/><Relationship Id="rId24" Type="http://schemas.openxmlformats.org/officeDocument/2006/relationships/tags" Target="../tags/tag18.xml"/><Relationship Id="rId23" Type="http://schemas.openxmlformats.org/officeDocument/2006/relationships/tags" Target="../tags/tag17.xml"/><Relationship Id="rId22" Type="http://schemas.openxmlformats.org/officeDocument/2006/relationships/tags" Target="../tags/tag16.xml"/><Relationship Id="rId21" Type="http://schemas.openxmlformats.org/officeDocument/2006/relationships/image" Target="../media/image6.svg"/><Relationship Id="rId20" Type="http://schemas.openxmlformats.org/officeDocument/2006/relationships/image" Target="../media/image5.png"/><Relationship Id="rId2" Type="http://schemas.openxmlformats.org/officeDocument/2006/relationships/tags" Target="../tags/tag2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image" Target="../media/image4.svg"/><Relationship Id="rId12" Type="http://schemas.openxmlformats.org/officeDocument/2006/relationships/image" Target="../media/image3.png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.svg"/><Relationship Id="rId7" Type="http://schemas.openxmlformats.org/officeDocument/2006/relationships/image" Target="../media/image1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Relationship Id="rId3" Type="http://schemas.openxmlformats.org/officeDocument/2006/relationships/image" Target="../media/image50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7.svg"/><Relationship Id="rId1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8.svg"/><Relationship Id="rId3" Type="http://schemas.openxmlformats.org/officeDocument/2006/relationships/image" Target="../media/image57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image" Target="../media/image64.svg"/><Relationship Id="rId7" Type="http://schemas.openxmlformats.org/officeDocument/2006/relationships/image" Target="../media/image63.png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7" Type="http://schemas.openxmlformats.org/officeDocument/2006/relationships/notesSlide" Target="../notesSlides/notesSlide17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39.xml"/><Relationship Id="rId24" Type="http://schemas.openxmlformats.org/officeDocument/2006/relationships/tags" Target="../tags/tag38.xml"/><Relationship Id="rId23" Type="http://schemas.openxmlformats.org/officeDocument/2006/relationships/tags" Target="../tags/tag37.xml"/><Relationship Id="rId22" Type="http://schemas.openxmlformats.org/officeDocument/2006/relationships/image" Target="../media/image66.svg"/><Relationship Id="rId21" Type="http://schemas.openxmlformats.org/officeDocument/2006/relationships/image" Target="../media/image65.png"/><Relationship Id="rId20" Type="http://schemas.openxmlformats.org/officeDocument/2006/relationships/tags" Target="../tags/tag36.xml"/><Relationship Id="rId2" Type="http://schemas.openxmlformats.org/officeDocument/2006/relationships/image" Target="../media/image62.svg"/><Relationship Id="rId19" Type="http://schemas.openxmlformats.org/officeDocument/2006/relationships/tags" Target="../tags/tag35.xml"/><Relationship Id="rId18" Type="http://schemas.openxmlformats.org/officeDocument/2006/relationships/tags" Target="../tags/tag34.xml"/><Relationship Id="rId17" Type="http://schemas.openxmlformats.org/officeDocument/2006/relationships/tags" Target="../tags/tag33.xml"/><Relationship Id="rId16" Type="http://schemas.openxmlformats.org/officeDocument/2006/relationships/tags" Target="../tags/tag32.xml"/><Relationship Id="rId15" Type="http://schemas.openxmlformats.org/officeDocument/2006/relationships/image" Target="../media/image10.svg"/><Relationship Id="rId14" Type="http://schemas.openxmlformats.org/officeDocument/2006/relationships/image" Target="../media/image9.png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image" Target="../media/image61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70.png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image" Target="../media/image7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82A36">
                <a:alpha val="100000"/>
              </a:srgbClr>
            </a:gs>
            <a:gs pos="100000">
              <a:srgbClr val="14141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333333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-1270000"/>
            <a:ext cx="5080000" cy="5080000"/>
          </a:xfrm>
          <a:prstGeom prst="ellipse">
            <a:avLst/>
          </a:prstGeom>
          <a:solidFill>
            <a:srgbClr val="00C89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8890000" y="4445000"/>
            <a:ext cx="4445000" cy="4445000"/>
          </a:xfrm>
          <a:prstGeom prst="ellipse">
            <a:avLst/>
          </a:prstGeom>
          <a:solidFill>
            <a:srgbClr val="00C896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08000" y="2540000"/>
            <a:ext cx="1117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基于ECDSA的安全分布式多智能体协同监控系统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6875">
            <a:off x="2921006" y="3930650"/>
            <a:ext cx="635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C89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508000" y="4318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网络编程与应用课程设计答辩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5461000"/>
            <a:ext cx="3302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5461000"/>
            <a:ext cx="50800" cy="8890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52500" y="5524500"/>
            <a:ext cx="298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张敏杰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5342709">
            <a:off x="3937000" y="5899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445000" y="5461000"/>
            <a:ext cx="3302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445000" y="5461000"/>
            <a:ext cx="50800" cy="8890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635500" y="5524500"/>
            <a:ext cx="298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指导教师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zh-CN" alt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曾霞霞</a:t>
            </a:r>
            <a:r>
              <a:rPr lang="zh-CN" alt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老师</a:t>
            </a:r>
            <a:endParaRPr lang="zh-CN" altLang="en-US" sz="15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5342709">
            <a:off x="7620000" y="5899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8128000" y="5461000"/>
            <a:ext cx="3302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128000" y="5461000"/>
            <a:ext cx="50800" cy="8890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318500" y="5524500"/>
            <a:ext cx="298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答辩日期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2026年6月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C89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2159000"/>
            <a:ext cx="3302000" cy="1778000"/>
          </a:xfrm>
          <a:prstGeom prst="roundRect">
            <a:avLst>
              <a:gd name="adj" fmla="val 0"/>
            </a:avLst>
          </a:prstGeom>
          <a:solidFill>
            <a:srgbClr val="00C89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50800" cy="17780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2349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网络编程基础知识回顾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952514" y="291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3048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回顾TCP/IP协议栈、Socket编程模型及网络通信核心原理，夯实项目开发的理论基础。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2159000"/>
            <a:ext cx="3302000" cy="1778000"/>
          </a:xfrm>
          <a:prstGeom prst="roundRect">
            <a:avLst>
              <a:gd name="adj" fmla="val 0"/>
            </a:avLst>
          </a:prstGeom>
          <a:solidFill>
            <a:srgbClr val="00C89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45000" y="2159000"/>
            <a:ext cx="50800" cy="17780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635500" y="2349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项目概述与需求分析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946">
            <a:off x="4635514" y="291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635500" y="3048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从研究背景切入，深入剖析网络应用场景的核心需求，明确项目建设目标与技术方向。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2159000"/>
            <a:ext cx="3302000" cy="1778000"/>
          </a:xfrm>
          <a:prstGeom prst="roundRect">
            <a:avLst>
              <a:gd name="adj" fmla="val 0"/>
            </a:avLst>
          </a:prstGeom>
          <a:solidFill>
            <a:srgbClr val="00C89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128000" y="2159000"/>
            <a:ext cx="50800" cy="17780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318500" y="2349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系统架构与网络设计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946">
            <a:off x="8318514" y="291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318500" y="3048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构建分层化系统架构，设计P2P网络拓扑与通信协议，确立高可用并发处理模型。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191000"/>
            <a:ext cx="3302000" cy="1778000"/>
          </a:xfrm>
          <a:prstGeom prst="roundRect">
            <a:avLst>
              <a:gd name="adj" fmla="val 0"/>
            </a:avLst>
          </a:prstGeom>
          <a:solidFill>
            <a:srgbClr val="00C89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62000" y="4191000"/>
            <a:ext cx="50800" cy="17780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52500" y="4381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核心网络模块实现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4946">
            <a:off x="952514" y="4946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952500" y="5080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实现Socket通信、全网广播与区块同步，集成身份认证与数据加密等安全防护模块。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445000" y="4191000"/>
            <a:ext cx="3302000" cy="1778000"/>
          </a:xfrm>
          <a:prstGeom prst="roundRect">
            <a:avLst>
              <a:gd name="adj" fmla="val 0"/>
            </a:avLst>
          </a:prstGeom>
          <a:solidFill>
            <a:srgbClr val="00C89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4445000" y="4191000"/>
            <a:ext cx="50800" cy="17780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4635500" y="4381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系统演示与成果验证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14946">
            <a:off x="4635514" y="4946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4635500" y="5080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通过功能演示、性能测试与安全审计，全方位验证方案的可行性、可靠性与安全性。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128000" y="4191000"/>
            <a:ext cx="3302000" cy="1778000"/>
          </a:xfrm>
          <a:prstGeom prst="roundRect">
            <a:avLst>
              <a:gd name="adj" fmla="val 0"/>
            </a:avLst>
          </a:prstGeom>
          <a:solidFill>
            <a:srgbClr val="00C89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128000" y="4191000"/>
            <a:ext cx="50800" cy="17780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8318500" y="4381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-14946">
            <a:off x="8318514" y="4946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8318500" y="5080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梳理核心技术贡献与实践经验，针对系统不足，提出性能优化、扩展性及智能化改进思路。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项目概述与需求分析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C896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在网络编程技术实践中，构建高效、稳定且安全的通信系统是核心目标。本项目聚焦网络通信的核心痛点，围绕四大关键技术实践方向展开，旨在提升系统的通信质量、兼容性、处理效率与安全防护能力。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762000" y="2921000"/>
            <a:ext cx="5207000" cy="1587500"/>
          </a:xfrm>
          <a:prstGeom prst="roundRect">
            <a:avLst>
              <a:gd name="adj" fmla="val 0"/>
            </a:avLst>
          </a:prstGeom>
          <a:solidFill>
            <a:srgbClr val="00C89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2921000"/>
            <a:ext cx="50800" cy="15875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111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651000" y="3073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可靠通信链路</a:t>
            </a:r>
            <a:endParaRPr lang="en-US" sz="1100"/>
          </a:p>
        </p:txBody>
      </p:sp>
      <p:cxnSp>
        <p:nvCxnSpPr>
          <p:cNvPr id="9" name="Connector 9"/>
          <p:cNvCxnSpPr/>
          <p:nvPr>
            <p:custDataLst>
              <p:tags r:id="rId7"/>
            </p:custDataLst>
          </p:nvPr>
        </p:nvCxnSpPr>
        <p:spPr>
          <a:xfrm rot="-9291">
            <a:off x="1016009" y="367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89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1016000" y="3810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通过TCP协议实现数据的有序、无差错传输，解决网络丢包、延迟与乱序问题，确保通信链路的稳定性与数据传输的完整性。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6223000" y="2921000"/>
            <a:ext cx="5207000" cy="1587500"/>
          </a:xfrm>
          <a:prstGeom prst="roundRect">
            <a:avLst>
              <a:gd name="adj" fmla="val 0"/>
            </a:avLst>
          </a:prstGeom>
          <a:solidFill>
            <a:srgbClr val="00C89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6223000" y="2921000"/>
            <a:ext cx="50800" cy="15875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3111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7112000" y="3073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数据格式标准化</a:t>
            </a:r>
            <a:endParaRPr lang="en-US" sz="1100"/>
          </a:p>
        </p:txBody>
      </p:sp>
      <p:cxnSp>
        <p:nvCxnSpPr>
          <p:cNvPr id="15" name="Connector 15"/>
          <p:cNvCxnSpPr/>
          <p:nvPr>
            <p:custDataLst>
              <p:tags r:id="rId15"/>
            </p:custDataLst>
          </p:nvPr>
        </p:nvCxnSpPr>
        <p:spPr>
          <a:xfrm rot="-9291">
            <a:off x="6477009" y="367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89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6477000" y="3810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定义统一的数据包结构与编码规范（如JSON/Protobuf），实现不同模块、不同端之间的高效数据解析与交互，提升系统兼容性。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7"/>
            </p:custDataLst>
          </p:nvPr>
        </p:nvSpPr>
        <p:spPr>
          <a:xfrm>
            <a:off x="762000" y="4762500"/>
            <a:ext cx="5207000" cy="1587500"/>
          </a:xfrm>
          <a:prstGeom prst="roundRect">
            <a:avLst>
              <a:gd name="adj" fmla="val 0"/>
            </a:avLst>
          </a:prstGeom>
          <a:solidFill>
            <a:srgbClr val="00C89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8"/>
            </p:custDataLst>
          </p:nvPr>
        </p:nvSpPr>
        <p:spPr>
          <a:xfrm>
            <a:off x="762000" y="4762500"/>
            <a:ext cx="50800" cy="15875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16000" y="4953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22"/>
            </p:custDataLst>
          </p:nvPr>
        </p:nvSpPr>
        <p:spPr>
          <a:xfrm>
            <a:off x="1651000" y="4914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高并发处理能力</a:t>
            </a:r>
            <a:endParaRPr lang="en-US" sz="1100"/>
          </a:p>
        </p:txBody>
      </p:sp>
      <p:cxnSp>
        <p:nvCxnSpPr>
          <p:cNvPr id="21" name="Connector 21"/>
          <p:cNvCxnSpPr/>
          <p:nvPr>
            <p:custDataLst>
              <p:tags r:id="rId23"/>
            </p:custDataLst>
          </p:nvPr>
        </p:nvCxnSpPr>
        <p:spPr>
          <a:xfrm rot="-9291">
            <a:off x="1016009" y="5518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89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>
            <p:custDataLst>
              <p:tags r:id="rId24"/>
            </p:custDataLst>
          </p:nvPr>
        </p:nvSpPr>
        <p:spPr>
          <a:xfrm>
            <a:off x="1016000" y="56134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</a:t>
            </a:r>
            <a:r>
              <a:rPr lang="en-US" altLang="zh-CN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asyncio</a:t>
            </a:r>
            <a:r>
              <a:rPr lang="zh-CN" alt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异步</a:t>
            </a:r>
            <a:r>
              <a:rPr lang="en-US" altLang="zh-CN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IO</a:t>
            </a:r>
            <a:r>
              <a:rPr lang="zh-CN" alt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与事件循环调度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，优化资源调度与任务处理流程，支撑大规模并发连接，保障高负载场景下的系统响应效率。</a:t>
            </a:r>
            <a:endParaRPr lang="en-US" sz="1100"/>
          </a:p>
        </p:txBody>
      </p:sp>
      <p:sp>
        <p:nvSpPr>
          <p:cNvPr id="23" name="AutoShape 23"/>
          <p:cNvSpPr/>
          <p:nvPr>
            <p:custDataLst>
              <p:tags r:id="rId25"/>
            </p:custDataLst>
          </p:nvPr>
        </p:nvSpPr>
        <p:spPr>
          <a:xfrm>
            <a:off x="6223000" y="4762500"/>
            <a:ext cx="5207000" cy="1587500"/>
          </a:xfrm>
          <a:prstGeom prst="roundRect">
            <a:avLst>
              <a:gd name="adj" fmla="val 0"/>
            </a:avLst>
          </a:prstGeom>
          <a:solidFill>
            <a:srgbClr val="00C89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>
            <p:custDataLst>
              <p:tags r:id="rId26"/>
            </p:custDataLst>
          </p:nvPr>
        </p:nvSpPr>
        <p:spPr>
          <a:xfrm>
            <a:off x="6223000" y="4762500"/>
            <a:ext cx="50800" cy="15875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477000" y="49530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>
            <p:custDataLst>
              <p:tags r:id="rId30"/>
            </p:custDataLst>
          </p:nvPr>
        </p:nvSpPr>
        <p:spPr>
          <a:xfrm>
            <a:off x="7112000" y="4914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通信安全与异常恢复</a:t>
            </a:r>
            <a:endParaRPr lang="en-US" sz="1100"/>
          </a:p>
        </p:txBody>
      </p:sp>
      <p:cxnSp>
        <p:nvCxnSpPr>
          <p:cNvPr id="27" name="Connector 27"/>
          <p:cNvCxnSpPr/>
          <p:nvPr>
            <p:custDataLst>
              <p:tags r:id="rId31"/>
            </p:custDataLst>
          </p:nvPr>
        </p:nvCxnSpPr>
        <p:spPr>
          <a:xfrm rot="-9291">
            <a:off x="6477009" y="5518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89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>
            <p:custDataLst>
              <p:tags r:id="rId32"/>
            </p:custDataLst>
          </p:nvPr>
        </p:nvSpPr>
        <p:spPr>
          <a:xfrm>
            <a:off x="6477000" y="56134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引入数据加密、身份认证机制防范非法访问与数据篡改，设计异常检测与重连策略，提升系统的容错能力与安全防护水平。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项目概述与需求分析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C896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00C896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3970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4762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可靠的数据传输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167">
            <a:off x="1016008" y="21780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2352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核心需求：</a:t>
            </a: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保证消息在节点间准确、完整送达，支持广播与点对点通信，确保无丢失、无乱序。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技术方向：</a:t>
            </a: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基于TCP设计ACK与重传机制，保障数据链路稳定性。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86500" y="1651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00C896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86500" y="1651000"/>
            <a:ext cx="76200" cy="13970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540500" y="1778000"/>
            <a:ext cx="4762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端到端的安全通信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167">
            <a:off x="6540508" y="21780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540500" y="22352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核心需求：</a:t>
            </a: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确保通信机密性、完整性，验证发送方身份，防止数据伪造。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技术方向：</a:t>
            </a: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应用ECDSA数字签名与非对称加密实现端到端安全传输。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3302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00C896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3302000"/>
            <a:ext cx="76200" cy="13970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3429000"/>
            <a:ext cx="4762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分布式节点管理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167">
            <a:off x="1016008" y="38290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1016000" y="38862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核心需求：</a:t>
            </a: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支持节点动态发现、加入与退出，维护网络拓扑，保障鲁棒性。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技术方向：</a:t>
            </a: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构建去中心化P2P架构，设计节点发现与心跳保活机制。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86500" y="3302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00C896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286500" y="3302000"/>
            <a:ext cx="76200" cy="13970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540500" y="3429000"/>
            <a:ext cx="4762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高并发处理能力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167">
            <a:off x="6540508" y="38290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540500" y="38862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核心需求：</a:t>
            </a: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高效处理大量并发连接与消息交互，保持低延迟、高吞吐。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技术方向：</a:t>
            </a: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采用Python asyncio异步IO模型，优化调度提升并发承载。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24" name="Table 24"/>
          <p:cNvGraphicFramePr>
            <a:graphicFrameLocks noGrp="1"/>
          </p:cNvGraphicFramePr>
          <p:nvPr/>
        </p:nvGraphicFramePr>
        <p:xfrm>
          <a:off x="762000" y="4953000"/>
          <a:ext cx="10668000" cy="1397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048000"/>
                <a:gridCol w="3556000"/>
                <a:gridCol w="4064000"/>
              </a:tblGrid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技术方案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896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核心特点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896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选型评估与结论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896">
                        <a:alpha val="10000"/>
                      </a:srgbClr>
                    </a:solidFill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555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多线程模型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6666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通过线程切换处理并发，存在GIL锁限制，线程上下文切换开销较高，内存占用大。</a:t>
                      </a:r>
                      <a:endParaRPr lang="en-US" sz="1100"/>
                    </a:p>
                  </a:txBody>
                  <a:tcPr marL="127000" marR="127000" marT="101600" marB="101600" anchor="t" anchorCtr="0">
                    <a:lnL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6666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在IO密集型场景下效率较低，不适合大规模节点并发连接场景。</a:t>
                      </a:r>
                      <a:endParaRPr lang="en-US" sz="1100"/>
                    </a:p>
                  </a:txBody>
                  <a:tcPr marL="127000" marR="1270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555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asyncio异步IO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6666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单线程事件循环驱动，无GIL锁限制，IO等待时自动切换任务，开销极小，轻量高效。</a:t>
                      </a:r>
                      <a:endParaRPr lang="en-US" sz="1100"/>
                    </a:p>
                  </a:txBody>
                  <a:tcPr marL="127000" marR="127000" marT="101600" marB="101600" anchor="t" anchorCtr="0">
                    <a:lnL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6666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适配本项目IO密集型通信场景，能高效支撑大规模并发，最终选型asyncio。</a:t>
                      </a:r>
                      <a:endParaRPr lang="en-US" sz="1100"/>
                    </a:p>
                  </a:txBody>
                  <a:tcPr marL="127000" marR="1270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项目概述与需求分析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C896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1270000"/>
          </a:xfrm>
          <a:prstGeom prst="roundRect">
            <a:avLst>
              <a:gd name="adj" fmla="val 0"/>
            </a:avLst>
          </a:prstGeom>
          <a:solidFill>
            <a:srgbClr val="00C89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0800" cy="12700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1028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总体目标：</a:t>
            </a:r>
            <a:r>
              <a:rPr lang="en-US" sz="15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并实现一套基于Socket和ECDSA的安全分布式多智能体协同监控系统，重点实践网络编程中的核心技术，攻克分布式环境下节点通信、身份认证与数据防篡改等关键问题，构建高可用、高安全的多智能体协同体系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556000"/>
            <a:ext cx="3429000" cy="2794000"/>
          </a:xfrm>
          <a:prstGeom prst="roundRect">
            <a:avLst>
              <a:gd name="adj" fmla="val 0"/>
            </a:avLst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3556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3810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784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网络性能指标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4323">
            <a:off x="952513" y="4375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952500" y="4572000"/>
            <a:ext cx="304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节点并发连接数：</a:t>
            </a:r>
            <a:r>
              <a:rPr lang="en-US" sz="13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≥ 10 节点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消息广播延迟：</a:t>
            </a:r>
            <a:r>
              <a:rPr lang="en-US" sz="13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≤ 500ms</a:t>
            </a:r>
            <a:endParaRPr lang="en-US" sz="1300" b="1" i="0" u="none" strike="noStrike">
              <a:solidFill>
                <a:srgbClr val="00C8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系统吞吐量：</a:t>
            </a:r>
            <a:r>
              <a:rPr lang="en-US" sz="13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≥ 100 消息/秒</a:t>
            </a:r>
            <a:endParaRPr lang="en-US" sz="1300" b="1" i="0" u="none" strike="noStrike">
              <a:solidFill>
                <a:srgbClr val="00C8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381500" y="3556000"/>
            <a:ext cx="3429000" cy="2794000"/>
          </a:xfrm>
          <a:prstGeom prst="roundRect">
            <a:avLst>
              <a:gd name="adj" fmla="val 0"/>
            </a:avLst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381500" y="3556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3810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016500" y="3784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网络安全指标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323">
            <a:off x="4572013" y="4375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572000" y="4572000"/>
            <a:ext cx="304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ECDSA身份认证准确率：</a:t>
            </a:r>
            <a:r>
              <a:rPr lang="en-US" sz="13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100%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消息篡改检测率：</a:t>
            </a:r>
            <a:r>
              <a:rPr lang="en-US" sz="13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100%</a:t>
            </a:r>
            <a:endParaRPr lang="en-US" sz="1300" b="1" i="0" u="none" strike="noStrike">
              <a:solidFill>
                <a:srgbClr val="00C8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通信数据传输：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全程加密，无明文泄露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001000" y="3556000"/>
            <a:ext cx="3429000" cy="2794000"/>
          </a:xfrm>
          <a:prstGeom prst="roundRect">
            <a:avLst>
              <a:gd name="adj" fmla="val 0"/>
            </a:avLst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001000" y="3556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3810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636000" y="3784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系统可用性指标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4323">
            <a:off x="8191513" y="4375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191500" y="4572000"/>
            <a:ext cx="304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节点异常下线恢复时间：</a:t>
            </a:r>
            <a:r>
              <a:rPr lang="en-US" sz="13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≤ 10s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Web面板响应时间：</a:t>
            </a:r>
            <a:r>
              <a:rPr lang="en-US" sz="13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≤ 500ms</a:t>
            </a:r>
            <a:endParaRPr lang="en-US" sz="1300" b="1" i="0" u="none" strike="noStrike">
              <a:solidFill>
                <a:srgbClr val="00C8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系统稳定性：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7×24小时不间断运行支持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762000" y="64770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注：所有指标均在“单主机多进程模拟环境”中测试验证。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系统架构与网络设计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2540000" cy="27940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2540000" cy="50800"/>
          </a:xfrm>
          <a:prstGeom prst="roundRect">
            <a:avLst>
              <a:gd name="adj" fmla="val 0"/>
            </a:avLst>
          </a:prstGeom>
          <a:solidFill>
            <a:srgbClr val="9999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159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2133600"/>
            <a:ext cx="177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应用展示层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20221">
            <a:off x="952519" y="2787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304800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面向用户与管理者的交互终端，集成可视化监控面板、智能体全生命周期状态看板及系统性能仪表盘，实现对底层网络与算法运行的直观掌控。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1905000"/>
            <a:ext cx="2540000" cy="27940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492500" y="1905000"/>
            <a:ext cx="2540000" cy="50800"/>
          </a:xfrm>
          <a:prstGeom prst="roundRect">
            <a:avLst>
              <a:gd name="adj" fmla="val 0"/>
            </a:avLst>
          </a:prstGeom>
          <a:solidFill>
            <a:srgbClr val="9999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0" y="2159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127500" y="2133600"/>
            <a:ext cx="177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MARL协同层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20221">
            <a:off x="3683019" y="2787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3683000" y="304800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承载多智能体强化学习核心逻辑，构建统一算法框架与奖励融合引擎，对接可信信息源，实现智能体间的协作决策与策略优化迭代。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1905000"/>
            <a:ext cx="2540000" cy="27940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223000" y="1905000"/>
            <a:ext cx="2540000" cy="50800"/>
          </a:xfrm>
          <a:prstGeom prst="roundRect">
            <a:avLst>
              <a:gd name="adj" fmla="val 0"/>
            </a:avLst>
          </a:prstGeom>
          <a:solidFill>
            <a:srgbClr val="9999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2159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858000" y="2133600"/>
            <a:ext cx="177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区块链核心层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20221">
            <a:off x="6413519" y="2787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413500" y="304800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提供去中心化信任基础，集成高效共识引擎、可扩展智能合约与分布式账本，通过ECDSA算法实现数据的安全签名与身份认证。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953500" y="1905000"/>
            <a:ext cx="2540000" cy="2794000"/>
          </a:xfrm>
          <a:prstGeom prst="roundRect">
            <a:avLst>
              <a:gd name="adj" fmla="val 0"/>
            </a:avLst>
          </a:prstGeom>
          <a:solidFill>
            <a:srgbClr val="00C89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953500" y="1905000"/>
            <a:ext cx="2540000" cy="508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0" y="21590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588500" y="2133600"/>
            <a:ext cx="177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分布式网络层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20221">
            <a:off x="9144019" y="2787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896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9144000" y="304800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系统通信基石，基于P2P节点组网与Socket传输协议，实现节点动态管理、全网消息广播及区块数据实时同步，保障底层通信可靠。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" y="5207000"/>
            <a:ext cx="10731500" cy="1143000"/>
          </a:xfrm>
          <a:prstGeom prst="roundRect">
            <a:avLst>
              <a:gd name="adj" fmla="val 0"/>
            </a:avLst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762000" y="5207000"/>
            <a:ext cx="50800" cy="11430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1016000" y="5334000"/>
            <a:ext cx="10096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网络编程核心实践链路：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 Socket 连接建立、应用层协议封装、异步并发处理、安全传输校验及网络异常恢复五个关键步骤，构建稳定、高效、安全的底层通信基础。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dashboard_syste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210" y="523875"/>
            <a:ext cx="10100945" cy="58096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纯去中心化P2P网络架构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我们采用</a:t>
            </a:r>
            <a:r>
              <a:rPr lang="en-US" sz="16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纯去中心化P2P网络架构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，摒弃中心化服务器，所有节点完全对等互联，通过统一的节点角色定义与高效的发现机制，构建无单点故障、高鲁棒性的分布式网络体系。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253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89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2794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00C896">
              <a:alpha val="5000"/>
            </a:srgbClr>
          </a:solidFill>
          <a:ln cap="flat" cmpd="sng">
            <a:solidFill>
              <a:srgbClr val="00AF83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3378200" cy="508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3048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3022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节点角色定义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810000"/>
            <a:ext cx="2997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所有节点完全对等：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每个节点同时具备服务端（asyncio TCP Server）与客户端（TCP连接邻居）能力，维护完整网络视图，参与数据转发与共识投票。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94200" y="2794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00C896">
              <a:alpha val="5000"/>
            </a:srgbClr>
          </a:solidFill>
          <a:ln cap="flat" cmpd="sng">
            <a:solidFill>
              <a:srgbClr val="00AF83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94200" y="2794000"/>
            <a:ext cx="3378200" cy="508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4700" y="3048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29200" y="3022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节点发现机制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566">
            <a:off x="4584713" y="3549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84700" y="3810000"/>
            <a:ext cx="14351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静态邻居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预设可信邻居节点列表，作为网络接入的初始锚点。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146800" y="3810000"/>
            <a:ext cx="14351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本地发现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通过组播/广播探测局域网内活跃节点，快速建立本地连接。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566">
            <a:off x="4584713" y="5073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584700" y="5270500"/>
            <a:ext cx="14351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DHT路由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基于分布式哈希表实现广域网点对点路由发现。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146800" y="5270500"/>
            <a:ext cx="14351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信誉机制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基于节点行为动态评估信誉，优化邻居选择策略。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026400" y="2794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00C896">
              <a:alpha val="5000"/>
            </a:srgbClr>
          </a:solidFill>
          <a:ln cap="flat" cmpd="sng">
            <a:solidFill>
              <a:srgbClr val="00AF83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026400" y="2794000"/>
            <a:ext cx="3378200" cy="508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16900" y="3048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661400" y="3022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架构核心优势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4566">
            <a:off x="8216913" y="3549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216900" y="3810000"/>
            <a:ext cx="2997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完全去中心化：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无中心控制节点，所有节点对等自治，从根本上消除单点故障与数据垄断风险。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4566">
            <a:off x="8216913" y="4819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216900" y="5016500"/>
            <a:ext cx="2997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安全与隐私保护：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通信无需经第三方中转，数据端到端加密，有效防止监听与篡改，保障节点隐私与数据安全。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6350000"/>
            <a:ext cx="10668000" cy="304800"/>
          </a:xfrm>
          <a:prstGeom prst="roundRect">
            <a:avLst>
              <a:gd name="adj" fmla="val 0"/>
            </a:avLst>
          </a:prstGeom>
          <a:solidFill>
            <a:srgbClr val="00C89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762000" y="63754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总结：纯去中心化P2P网络架构实现了节点的完全对等与自治，静态邻居配置结合DHT等发现机制，保障了网络的可发现性与鲁棒性。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p2p_topology"/>
          <p:cNvPicPr>
            <a:picLocks noChangeAspect="1"/>
          </p:cNvPicPr>
          <p:nvPr/>
        </p:nvPicPr>
        <p:blipFill>
          <a:blip r:embed="rId1"/>
          <a:srcRect l="8207" r="7674" b="34880"/>
          <a:stretch>
            <a:fillRect/>
          </a:stretch>
        </p:blipFill>
        <p:spPr>
          <a:xfrm>
            <a:off x="0" y="0"/>
            <a:ext cx="5321935" cy="32702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447290" y="6189980"/>
            <a:ext cx="748601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latin typeface="-apple-system"/>
                <a:ea typeface="-apple-system"/>
              </a:rPr>
              <a:t>纯去中心化</a:t>
            </a:r>
            <a:r>
              <a:rPr lang="en-US" altLang="zh-CN" sz="1600" b="0" i="0">
                <a:latin typeface="-apple-system"/>
                <a:ea typeface="-apple-system"/>
              </a:rPr>
              <a:t>P2P</a:t>
            </a:r>
            <a:r>
              <a:rPr lang="zh-CN" altLang="en-US" sz="1600" b="0" i="0">
                <a:latin typeface="-apple-system"/>
                <a:ea typeface="-apple-system"/>
              </a:rPr>
              <a:t>网络架构 </a:t>
            </a:r>
            <a:r>
              <a:rPr lang="en-US" altLang="zh-CN" sz="1600" b="0" i="0">
                <a:latin typeface="-apple-system"/>
                <a:ea typeface="-apple-system"/>
              </a:rPr>
              <a:t>→ </a:t>
            </a:r>
            <a:r>
              <a:rPr lang="zh-CN" altLang="en-US" sz="1600" b="0" i="0">
                <a:latin typeface="-apple-system"/>
                <a:ea typeface="-apple-system"/>
              </a:rPr>
              <a:t>插入拓扑图直观展示</a:t>
            </a:r>
            <a:r>
              <a:rPr lang="en-US" altLang="zh-CN" sz="1600" b="0" i="0">
                <a:latin typeface="-apple-system"/>
                <a:ea typeface="-apple-system"/>
              </a:rPr>
              <a:t>3</a:t>
            </a:r>
            <a:r>
              <a:rPr lang="zh-CN" altLang="en-US" sz="1600" b="0" i="0">
                <a:latin typeface="-apple-system"/>
                <a:ea typeface="-apple-system"/>
              </a:rPr>
              <a:t>节点全互联</a:t>
            </a:r>
            <a:endParaRPr lang="zh-CN" altLang="en-US" sz="1600" b="0" i="0">
              <a:latin typeface="-apple-system"/>
              <a:ea typeface="-apple-system"/>
            </a:endParaRPr>
          </a:p>
        </p:txBody>
      </p:sp>
      <p:pic>
        <p:nvPicPr>
          <p:cNvPr id="4" name="图片 3" descr="dashboard_p2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125" y="0"/>
            <a:ext cx="6873875" cy="39535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系统架构与网络设计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基于TCP Socket构建轻量级JSON格式应用层协议，通过消息头与消息体的结构化分离规范节点交互，兼顾通信规范性、协议扩展性与传输安全性，为分布式网络提供可靠通信底座。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240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896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2667000"/>
            <a:ext cx="4826000" cy="2667000"/>
          </a:xfrm>
          <a:prstGeom prst="roundRect">
            <a:avLst>
              <a:gd name="adj" fmla="val 0"/>
            </a:avLst>
          </a:prstGeom>
          <a:solidFill>
            <a:srgbClr val="F7F9F8">
              <a:alpha val="100000"/>
            </a:srgbClr>
          </a:solidFill>
          <a:ln w="12700" cap="flat" cmpd="sng">
            <a:solidFill>
              <a:srgbClr val="00C896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4826000" cy="431800"/>
          </a:xfrm>
          <a:prstGeom prst="roundRect">
            <a:avLst>
              <a:gd name="adj" fmla="val 0"/>
            </a:avLst>
          </a:prstGeom>
          <a:solidFill>
            <a:srgbClr val="00C89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27432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82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标准协议数据单元 (PDU) 格式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225800"/>
            <a:ext cx="457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Header（元信息头）：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包含msg_type（消息类型）、from_node（节点ID）、timestamp（时间戳）、nonce（防重放随机数），承载控制与安全校验信息。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Body（业务数据体）：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封装业务payload（交易/区块数据）及ECDSA数字签名，确保完整性与不可抵赖性，支持字段动态扩展。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096000" y="2667000"/>
            <a:ext cx="5334000" cy="2667000"/>
          </a:xfrm>
          <a:prstGeom prst="roundRect">
            <a:avLst>
              <a:gd name="adj" fmla="val 0"/>
            </a:avLst>
          </a:prstGeom>
          <a:solidFill>
            <a:srgbClr val="F7F9F8">
              <a:alpha val="100000"/>
            </a:srgbClr>
          </a:solidFill>
          <a:ln w="12700" cap="flat" cmpd="sng">
            <a:solidFill>
              <a:srgbClr val="00C89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23000" y="27686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82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核心交互消息类型体系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5461000"/>
            <a:ext cx="3302000" cy="1143000"/>
          </a:xfrm>
          <a:prstGeom prst="roundRect">
            <a:avLst>
              <a:gd name="adj" fmla="val 0"/>
            </a:avLst>
          </a:prstGeom>
          <a:solidFill>
            <a:srgbClr val="F2F8F6">
              <a:alpha val="100000"/>
            </a:srgbClr>
          </a:solidFill>
          <a:ln w="12700" cap="flat" cmpd="sng">
            <a:solidFill>
              <a:srgbClr val="00C89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5461000"/>
            <a:ext cx="50800" cy="1143000"/>
          </a:xfrm>
          <a:prstGeom prst="roundRect">
            <a:avLst>
              <a:gd name="adj" fmla="val 0"/>
            </a:avLst>
          </a:prstGeom>
          <a:solidFill>
            <a:srgbClr val="00B4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56134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33500" y="55880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0064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协议设计要点回顾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结构化分离Header与Body，JSON序列化提升可读性与跨平台兼容性。</a:t>
            </a:r>
            <a:endParaRPr 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318000" y="5461000"/>
            <a:ext cx="3302000" cy="1143000"/>
          </a:xfrm>
          <a:prstGeom prst="roundRect">
            <a:avLst>
              <a:gd name="adj" fmla="val 0"/>
            </a:avLst>
          </a:prstGeom>
          <a:solidFill>
            <a:srgbClr val="F2F8F6">
              <a:alpha val="100000"/>
            </a:srgbClr>
          </a:solidFill>
          <a:ln w="12700" cap="flat" cmpd="sng">
            <a:solidFill>
              <a:srgbClr val="00C89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318000" y="5461000"/>
            <a:ext cx="50800" cy="1143000"/>
          </a:xfrm>
          <a:prstGeom prst="roundRect">
            <a:avLst>
              <a:gd name="adj" fmla="val 0"/>
            </a:avLst>
          </a:prstGeom>
          <a:solidFill>
            <a:srgbClr val="00B4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70400" y="56134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889500" y="55880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0064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安全加固机制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timestamp+nonce防重放，ECDSA签名验真，保障数据可信与完整。</a:t>
            </a:r>
            <a:endParaRPr 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874000" y="5461000"/>
            <a:ext cx="3302000" cy="1143000"/>
          </a:xfrm>
          <a:prstGeom prst="roundRect">
            <a:avLst>
              <a:gd name="adj" fmla="val 0"/>
            </a:avLst>
          </a:prstGeom>
          <a:solidFill>
            <a:srgbClr val="F2F8F6">
              <a:alpha val="100000"/>
            </a:srgbClr>
          </a:solidFill>
          <a:ln w="12700" cap="flat" cmpd="sng">
            <a:solidFill>
              <a:srgbClr val="00C89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874000" y="5461000"/>
            <a:ext cx="50800" cy="1143000"/>
          </a:xfrm>
          <a:prstGeom prst="roundRect">
            <a:avLst>
              <a:gd name="adj" fmla="val 0"/>
            </a:avLst>
          </a:prstGeom>
          <a:solidFill>
            <a:srgbClr val="00B4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6400" y="56134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445500" y="55880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0064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传输可靠性保障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基于TCP面向连接特性，确保消息无丢失、无重复、有序到达。</a:t>
            </a:r>
            <a:endParaRPr 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23" name="Table 23"/>
          <p:cNvGraphicFramePr>
            <a:graphicFrameLocks noGrp="1"/>
          </p:cNvGraphicFramePr>
          <p:nvPr/>
        </p:nvGraphicFramePr>
        <p:xfrm>
          <a:off x="6223000" y="3175000"/>
          <a:ext cx="5080000" cy="1905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43000"/>
                <a:gridCol w="2413000"/>
                <a:gridCol w="1524000"/>
              </a:tblGrid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0645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消息类型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896">
                        <a:alpha val="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0645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功能描述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896">
                        <a:alpha val="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0645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网络编程知识点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896">
                        <a:alpha val="8000"/>
                      </a:srgbClr>
                    </a:solidFill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register/heartbeat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5555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节点入网认证，周期性心跳维护拓扑连通性，剔除失效节点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64646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TCP长连接、定时任务、状态机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C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transaction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5555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封装智能体行为指令与状态变更，核心业务交互载体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64646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数据序列化、载荷校验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block/sync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5555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新区块广播同步，断连节点增量数据恢复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64646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广播机制、断点续传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asyncio 异步并发模型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160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事件循环 (Event Loop)：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asyncio 的核心调度器，负责监听 I/O 事件、执行回调任务与协程，实现单线程内的任务并发切换。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协程 (Coroutine)：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轻量级的用户态“微线程”，通过 await 关键字主动让出控制权，避免线程切换的开销，提升并发密度。</a:t>
            </a:r>
            <a:endParaRPr lang="en-US" sz="16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无锁并发：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单线程模型天然规避多线程的锁竞争与数据同步问题，简化代码逻辑，同时利用 I/O 等待时间执行其他任务。</a:t>
            </a:r>
            <a:endParaRPr lang="en-US" sz="16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016000" y="49530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asyncio vs 多线程对比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┌─────────────┬─────────────┬─────────────┐</a:t>
            </a:r>
            <a:endParaRPr lang="en-US" sz="1200" b="0" i="0" u="none" strike="noStrike">
              <a:solidFill>
                <a:srgbClr val="44444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│ 特性 │ asyncio │ 多线程 │</a:t>
            </a:r>
            <a:endParaRPr lang="en-US" sz="1200" b="0" i="0" u="none" strike="noStrike">
              <a:solidFill>
                <a:srgbClr val="44444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├─────────────┼─────────────┼─────────────┤</a:t>
            </a:r>
            <a:endParaRPr lang="en-US" sz="1200" b="0" i="0" u="none" strike="noStrike">
              <a:solidFill>
                <a:srgbClr val="44444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│ 切换开销 │ 极小(用户态)│ 大(内核态) │</a:t>
            </a:r>
            <a:endParaRPr lang="en-US" sz="1200" b="0" i="0" u="none" strike="noStrike">
              <a:solidFill>
                <a:srgbClr val="44444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│ 资源占用 │ 低 │ 高 │</a:t>
            </a:r>
            <a:endParaRPr lang="en-US" sz="1200" b="0" i="0" u="none" strike="noStrike">
              <a:solidFill>
                <a:srgbClr val="44444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│ 数据安全 │ 天然安全 │ 需加锁 │</a:t>
            </a:r>
            <a:endParaRPr lang="en-US" sz="1200" b="0" i="0" u="none" strike="noStrike">
              <a:solidFill>
                <a:srgbClr val="44444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└─────────────┴─────────────┴─────────────┘</a:t>
            </a:r>
            <a:endParaRPr lang="en-US" sz="1200" b="0" i="0" u="none" strike="noStrike">
              <a:solidFill>
                <a:srgbClr val="44444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核心网络模块实现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454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C89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2032000"/>
            <a:ext cx="76200" cy="11430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482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异步服务端启动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Python `asyncio` 与 `socket` 实现异步 TCP 服务端，通过 `asyncio.start_server()` 启动服务，避免传统阻塞式 I/O 等待，大幅提升单线程下的并发连接处理能力。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3810000"/>
            <a:ext cx="76200" cy="11430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3746500"/>
            <a:ext cx="482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协程级任务调度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 `async/await` 语法封装协程任务，为每个客户端连接分配独立协程，通过事件循环高效调度，相比线程减少上下文切换开销，支持海量并发。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5207000"/>
            <a:ext cx="76200" cy="10795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5143500"/>
            <a:ext cx="482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全节点消息广播转发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通过协程持续监听客户端消息，收到消息后遍历全节点连接池，将消息异步转发至除发送方外的所有节点，实现低延迟的网络数据同步与广播。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5389889">
            <a:off x="40640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477000" y="1828800"/>
            <a:ext cx="4953000" cy="4662805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26200" y="1828800"/>
            <a:ext cx="4953000" cy="457200"/>
          </a:xfrm>
          <a:prstGeom prst="roundRect">
            <a:avLst>
              <a:gd name="adj" fmla="val 0"/>
            </a:avLst>
          </a:prstGeom>
          <a:solidFill>
            <a:srgbClr val="00C89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604000" y="188595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核心实现代码：P2PNode 类（Asyncio）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04000" y="2486660"/>
            <a:ext cx="4542155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import asyncio</a:t>
            </a:r>
            <a:b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class P2PNode:</a:t>
            </a:r>
            <a:b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def __init__(self, host='0.0.0.0', port=8888):</a:t>
            </a:r>
            <a:b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self.host, self.port = host, port</a:t>
            </a:r>
            <a:b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self.clients = set() # 协程连接集合</a:t>
            </a:r>
            <a:b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 异步启动服务</a:t>
            </a:r>
            <a:b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async def start(self):</a:t>
            </a:r>
            <a:b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server = await asyncio.start_server(</a:t>
            </a:r>
            <a:b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self.handle_client, self.host, self.port</a:t>
            </a:r>
            <a:b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)</a:t>
            </a:r>
            <a:b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 协程处理客户端消息</a:t>
            </a:r>
            <a:b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async def handle_client(self, reader, writer):</a:t>
            </a:r>
            <a:b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self.clients.add(writer) # 加入连接池</a:t>
            </a:r>
            <a:b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while True: # 持续监听消息</a:t>
            </a:r>
            <a:b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data = await reader.read(1024)</a:t>
            </a:r>
            <a:b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if not data: break</a:t>
            </a:r>
            <a:b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await self.broadcast(data, writer)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507480" y="5270500"/>
            <a:ext cx="4993005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代码要点解析：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基于 `asyncio.start_server` 实现异步服务端，替代传统阻塞式 socket；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用 `async/await` 封装协程任务，单线程调度多连接，无线程切换开销；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连接池用 `set` 维护，广播时遍历并异步转发消息，保证低延迟同步。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核心网络模块实现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429000" cy="3810000"/>
          </a:xfrm>
          <a:prstGeom prst="roundRect">
            <a:avLst>
              <a:gd name="adj" fmla="val 0"/>
            </a:avLst>
          </a:prstGeom>
          <a:solidFill>
            <a:srgbClr val="00C89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286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98600" y="22606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消息广播机制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291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175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泛洪(Flooding)算法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节点收到新消息后，会立即向除发送方外的所有邻居节点转发该消息，以此实现消息在分布式网络中的快速扩散与传播。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4699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消息去重机制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节点会维护一份已处理消息的ID列表，接收消息时先校验ID，过滤重复消息，有效避免网络中出现循环转发与冗余流量。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5388540">
            <a:off x="2603500" y="3930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699000" y="2032000"/>
            <a:ext cx="3429000" cy="3810000"/>
          </a:xfrm>
          <a:prstGeom prst="roundRect">
            <a:avLst>
              <a:gd name="adj" fmla="val 0"/>
            </a:avLst>
          </a:prstGeom>
          <a:solidFill>
            <a:srgbClr val="00C89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699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3000" y="2286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435600" y="22606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区块同步机制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4946">
            <a:off x="4953014" y="291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953000" y="3175000"/>
            <a:ext cx="2921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增量高度探测与数据同步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新节点加入网络后，先向邻居发起请求获取全网最新区块高度，确立同步基准；随后批量拉取本地缺失的区块数据，校验其合法性后持久化落库，最终确保节点间数据的一致性。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8" name="Connector 18"/>
          <p:cNvCxnSpPr/>
          <p:nvPr/>
        </p:nvCxnSpPr>
        <p:spPr>
          <a:xfrm rot="5388540">
            <a:off x="6477000" y="3930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509000" y="2032000"/>
            <a:ext cx="3302000" cy="38100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99500" y="2222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144000" y="21971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核心逻辑实现 (Python)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4946">
            <a:off x="86995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636000" y="2984500"/>
            <a:ext cx="3048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async def broadcast_msg(self, msg, exclude):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 Async flood broadcast</a:t>
            </a:r>
            <a:endParaRPr lang="en-US" sz="10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tasks = []</a:t>
            </a:r>
            <a:endParaRPr lang="en-US" sz="10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for node in self.neighbors:</a:t>
            </a:r>
            <a:endParaRPr lang="en-US" sz="10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if node != exclude and node.alive:</a:t>
            </a:r>
            <a:endParaRPr lang="en-US" sz="10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tasks.append(node.send(msg))</a:t>
            </a:r>
            <a:endParaRPr lang="en-US" sz="10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await asyncio.gather(*tasks)</a:t>
            </a:r>
            <a:endParaRPr lang="en-US" sz="10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---</a:t>
            </a:r>
            <a:endParaRPr lang="en-US" sz="1000" b="0" i="0" u="none" strike="noStrike">
              <a:solidFill>
                <a:srgbClr val="FFFFFF">
                  <a:alpha val="4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async def sync_blocks(self, tgt_h):</a:t>
            </a:r>
            <a:endParaRPr lang="en-US" sz="1000" b="0" i="0" u="none" strike="noStrike">
              <a:solidFill>
                <a:srgbClr val="00C8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 Sync missing blocks async</a:t>
            </a:r>
            <a:endParaRPr lang="en-US" sz="10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missing = await self.neighbor.req_blks(self.h+1, tgt_h)</a:t>
            </a:r>
            <a:endParaRPr lang="en-US" sz="10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for b in missing:</a:t>
            </a:r>
            <a:endParaRPr lang="en-US" sz="10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if self.bc.is_valid(b):</a:t>
            </a:r>
            <a:endParaRPr lang="en-US" sz="10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self.bc.add_block(b)</a:t>
            </a:r>
            <a:endParaRPr lang="en-US" sz="10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762000" y="60325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00C89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52500" y="6134100"/>
            <a:ext cx="1028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通过泛洪广播与增量区块同步的结合，确保了分布式网络中数据传播的实时性与一致性，为系统的去中心化信任奠定基础。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Socket 通信中的 ECDSA 安全机制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基于椭圆曲线数字签名算法（ECDSA）构建端到端的安全通信机制，通过私钥签名与公钥验签的非对称加密方式，确保消息来源的真实性与传输过程的完整性。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2152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89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2413000"/>
            <a:ext cx="3302000" cy="2540000"/>
          </a:xfrm>
          <a:prstGeom prst="roundRect">
            <a:avLst>
              <a:gd name="adj" fmla="val 0"/>
            </a:avLst>
          </a:prstGeom>
          <a:solidFill>
            <a:srgbClr val="00C89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2603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发送方：私钥签名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3">
            <a:off x="889013" y="3041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896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889000" y="3175000"/>
            <a:ext cx="304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00A0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构造消息体：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封装业务数据，确保结构完整。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00A0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生成签名：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私钥对消息哈希值做ECDSA签名。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00A0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发送数据：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消息+签名通过Socket发出。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128000" y="2413000"/>
            <a:ext cx="3302000" cy="2540000"/>
          </a:xfrm>
          <a:prstGeom prst="roundRect">
            <a:avLst>
              <a:gd name="adj" fmla="val 0"/>
            </a:avLst>
          </a:prstGeom>
          <a:solidFill>
            <a:srgbClr val="00C89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128000" y="2413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255000" y="2603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接收方：公钥验签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323">
            <a:off x="8255013" y="3041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896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8255000" y="3175000"/>
            <a:ext cx="304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00A0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接收与取钥：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解析消息，获取发送方公钥。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00A0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验证签名：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公钥验证签名有效性。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00A0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业务处置：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验签通过处理业务，失败告警。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445000" y="2413000"/>
            <a:ext cx="3302000" cy="25400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00C896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572000" y="2603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Socket 传输数据包格式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572000" y="3111500"/>
            <a:ext cx="304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4646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{</a:t>
            </a:r>
            <a:endParaRPr lang="en-US" sz="1100"/>
          </a:p>
          <a:p>
            <a:pPr marL="19050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0078D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"msg_id"</a:t>
            </a:r>
            <a:r>
              <a:rPr lang="en-US" sz="1100" b="0" i="0" u="none" strike="noStrike">
                <a:solidFill>
                  <a:srgbClr val="64646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</a:t>
            </a:r>
            <a:r>
              <a:rPr lang="en-US" sz="1100" b="0" i="0" u="none" strike="noStrike">
                <a:solidFill>
                  <a:srgbClr val="C0504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"T20240501001"</a:t>
            </a:r>
            <a:r>
              <a:rPr lang="en-US" sz="1100" b="0" i="0" u="none" strike="noStrike">
                <a:solidFill>
                  <a:srgbClr val="64646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</a:t>
            </a:r>
            <a:endParaRPr lang="en-US" sz="1100" b="0" i="0" u="none" strike="noStrike">
              <a:solidFill>
                <a:srgbClr val="64646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9050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0078D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"data"</a:t>
            </a:r>
            <a:r>
              <a:rPr lang="en-US" sz="1100" b="0" i="0" u="none" strike="noStrike">
                <a:solidFill>
                  <a:srgbClr val="64646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</a:t>
            </a:r>
            <a:r>
              <a:rPr lang="en-US" sz="1100" b="0" i="0" u="none" strike="noStrike">
                <a:solidFill>
                  <a:srgbClr val="C0504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"业务数据内容"</a:t>
            </a:r>
            <a:r>
              <a:rPr lang="en-US" sz="1100" b="0" i="0" u="none" strike="noStrike">
                <a:solidFill>
                  <a:srgbClr val="64646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</a:t>
            </a:r>
            <a:endParaRPr lang="en-US" sz="1100" b="0" i="0" u="none" strike="noStrike">
              <a:solidFill>
                <a:srgbClr val="64646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9050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0078D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"signature"</a:t>
            </a:r>
            <a:r>
              <a:rPr lang="en-US" sz="1100" b="0" i="0" u="none" strike="noStrike">
                <a:solidFill>
                  <a:srgbClr val="64646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</a:t>
            </a:r>
            <a:r>
              <a:rPr lang="en-US" sz="1100" b="0" i="0" u="none" strike="noStrike">
                <a:solidFill>
                  <a:srgbClr val="C0504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"ECDSA签名串"</a:t>
            </a:r>
            <a:endParaRPr lang="en-US" sz="1100" b="0" i="0" u="none" strike="noStrike">
              <a:solidFill>
                <a:srgbClr val="C0504D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4646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100" b="0" i="0" u="none" strike="noStrike">
              <a:solidFill>
                <a:srgbClr val="64646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5143500"/>
            <a:ext cx="10668000" cy="1270000"/>
          </a:xfrm>
          <a:prstGeom prst="roundRect">
            <a:avLst>
              <a:gd name="adj" fmla="val 0"/>
            </a:avLst>
          </a:prstGeom>
          <a:solidFill>
            <a:srgbClr val="F2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5143500"/>
            <a:ext cx="50800" cy="12700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52500" y="52070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80808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1. 业务数据与私钥签名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msg = {"temp": 25, "hum": 60}; sig = ecdsa.sign(pri_key, msg)</a:t>
            </a:r>
            <a:endParaRPr lang="en-US" sz="1100" b="0" i="0" u="none" strike="noStrik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80808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2. 封装为JSON并通过Socket发送</a:t>
            </a:r>
            <a:endParaRPr lang="en-US" sz="1100" b="0" i="0" u="none" strike="noStrike">
              <a:solidFill>
                <a:srgbClr val="80808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altLang="zh-CN" sz="1100" b="0" i="0" u="none" strike="noStrik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writer.write(</a:t>
            </a:r>
            <a:r>
              <a:rPr lang="en-US" sz="1100" b="0" i="0" u="none" strike="noStrik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json.dumps({"data": msg, "sig": sig}).encode())</a:t>
            </a:r>
            <a:endParaRPr lang="en-US" sz="1100" b="0" i="0" u="none" strike="noStrik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cxnSp>
        <p:nvCxnSpPr>
          <p:cNvPr id="21" name="Connector 21"/>
          <p:cNvCxnSpPr/>
          <p:nvPr/>
        </p:nvCxnSpPr>
        <p:spPr>
          <a:xfrm rot="5357030">
            <a:off x="5588000" y="5772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286500" y="52070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80808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1. 接收数据并解析JSON格式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data = json.loads(</a:t>
            </a:r>
            <a:r>
              <a:rPr lang="en-US" altLang="zh-CN" sz="1100" b="0" i="0" u="none" strike="noStrik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await reader.read</a:t>
            </a:r>
            <a:r>
              <a:rPr lang="en-US" sz="1100" b="0" i="0" u="none" strike="noStrik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(1024).decode())</a:t>
            </a:r>
            <a:endParaRPr lang="en-US" sz="1100" b="0" i="0" u="none" strike="noStrik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80808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2. 公钥验签，通过则处理否则告警</a:t>
            </a:r>
            <a:endParaRPr lang="en-US" sz="1100" b="0" i="0" u="none" strike="noStrike">
              <a:solidFill>
                <a:srgbClr val="80808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 ecdsa.verify(pub_key, data["data"], data["sig"]): handle(data) else: alert()</a:t>
            </a:r>
            <a:endParaRPr lang="en-US" sz="1100" b="0" i="0" u="none" strike="noStrike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ecdsa_flo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60" y="419735"/>
            <a:ext cx="11816715" cy="62325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637155" y="5313045"/>
            <a:ext cx="740473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0" i="0">
                <a:latin typeface="-apple-system"/>
                <a:ea typeface="-apple-system"/>
              </a:rPr>
              <a:t>Socket</a:t>
            </a:r>
            <a:r>
              <a:rPr lang="zh-CN" altLang="en-US" sz="1600" b="0" i="0">
                <a:latin typeface="-apple-system"/>
                <a:ea typeface="-apple-system"/>
              </a:rPr>
              <a:t>通信中的</a:t>
            </a:r>
            <a:r>
              <a:rPr lang="en-US" altLang="zh-CN" sz="1600" b="0" i="0">
                <a:latin typeface="-apple-system"/>
                <a:ea typeface="-apple-system"/>
              </a:rPr>
              <a:t>ECDSA</a:t>
            </a:r>
            <a:r>
              <a:rPr lang="zh-CN" altLang="en-US" sz="1600" b="0" i="0">
                <a:latin typeface="-apple-system"/>
                <a:ea typeface="-apple-system"/>
              </a:rPr>
              <a:t>安全机制 </a:t>
            </a:r>
            <a:r>
              <a:rPr lang="en-US" altLang="zh-CN" sz="1600" b="0" i="0">
                <a:latin typeface="-apple-system"/>
                <a:ea typeface="-apple-system"/>
              </a:rPr>
              <a:t>→ </a:t>
            </a:r>
            <a:r>
              <a:rPr lang="zh-CN" altLang="en-US" sz="1600" b="0" i="0">
                <a:latin typeface="-apple-system"/>
                <a:ea typeface="-apple-system"/>
              </a:rPr>
              <a:t>插入签名</a:t>
            </a:r>
            <a:r>
              <a:rPr lang="en-US" altLang="zh-CN" sz="1600" b="0" i="0">
                <a:latin typeface="-apple-system"/>
                <a:ea typeface="-apple-system"/>
              </a:rPr>
              <a:t>→</a:t>
            </a:r>
            <a:r>
              <a:rPr lang="zh-CN" altLang="en-US" sz="1600" b="0" i="0">
                <a:latin typeface="-apple-system"/>
                <a:ea typeface="-apple-system"/>
              </a:rPr>
              <a:t>传输</a:t>
            </a:r>
            <a:r>
              <a:rPr lang="en-US" altLang="zh-CN" sz="1600" b="0" i="0">
                <a:latin typeface="-apple-system"/>
                <a:ea typeface="-apple-system"/>
              </a:rPr>
              <a:t>→</a:t>
            </a:r>
            <a:r>
              <a:rPr lang="zh-CN" altLang="en-US" sz="1600" b="0" i="0">
                <a:latin typeface="-apple-system"/>
                <a:ea typeface="-apple-system"/>
              </a:rPr>
              <a:t>验签流程图</a:t>
            </a:r>
            <a:endParaRPr lang="zh-CN" altLang="en-US" sz="1600" b="0" i="0"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Flask + Chart.js 的 Web 可视化监控平台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本平台采用 Flask 作为后端服务框架，Chart.js 作为前端可视化图表库，搭建轻量级 Web 监控系统，无需桌面客户端即可实现对网络节点状态、数据流转及安全事件的实时监控与可视化展示，提升监控的便捷性与通用性。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794000"/>
            <a:ext cx="3429000" cy="2159000"/>
          </a:xfrm>
          <a:prstGeom prst="roundRect">
            <a:avLst>
              <a:gd name="adj" fmla="val 0"/>
            </a:avLst>
          </a:prstGeom>
          <a:solidFill>
            <a:srgbClr val="4472C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794000"/>
            <a:ext cx="76200" cy="2159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984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9464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技术栈选型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3549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683000"/>
            <a:ext cx="292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后端基于 Python Flask 构建 RESTful API，提供节点状态、拓扑数据等接口；前端采用 Chart.js 实现折线图、拓扑图等可视化图表，结合 HTML/CSS 实现响应式布局，适配多终端访问。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2794000"/>
            <a:ext cx="3429000" cy="2159000"/>
          </a:xfrm>
          <a:prstGeom prst="roundRect">
            <a:avLst>
              <a:gd name="adj" fmla="val 0"/>
            </a:avLst>
          </a:prstGeom>
          <a:solidFill>
            <a:srgbClr val="4472C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2794000"/>
            <a:ext cx="76200" cy="2159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2984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43500" y="29464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核心功能模块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3549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3683000"/>
            <a:ext cx="292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包含节点状态监控、网络拓扑可视化、数据流转分析及安全告警四大模块，支持节点上下线实时刷新、消息吞吐量趋势展示，以及异常行为的实时告警与日志记录。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2794000"/>
            <a:ext cx="3429000" cy="2159000"/>
          </a:xfrm>
          <a:prstGeom prst="roundRect">
            <a:avLst>
              <a:gd name="adj" fmla="val 0"/>
            </a:avLst>
          </a:prstGeom>
          <a:solidFill>
            <a:srgbClr val="4472C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2794000"/>
            <a:ext cx="76200" cy="2159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2984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63000" y="29464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部署与访问方式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946">
            <a:off x="8255014" y="3549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55000" y="3683000"/>
            <a:ext cx="292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采用轻量化部署方案，支持本地调试与云服务器部署，通过 Nginx 反向代理提供 Web 访问入口，用户只需通过浏览器输入指定 URL 即可登录监控面板，无需安装额外客户端。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4092">
            <a:off x="762004" y="520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762000" y="5397500"/>
            <a:ext cx="342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4472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实时状态监控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全量展示节点在线状态、IP/端口信息，数据刷新频率达秒级，确保监控数据的时效性。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4" name="Connector 24"/>
          <p:cNvCxnSpPr/>
          <p:nvPr/>
        </p:nvCxnSpPr>
        <p:spPr>
          <a:xfrm rot="5350892">
            <a:off x="3873500" y="5899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4508500" y="5397500"/>
            <a:ext cx="342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4472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数据可视化分析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通过折线图、拓扑图直观呈现网络吞吐量、延迟等指标，支持数据多维度筛选与回溯。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6" name="Connector 26"/>
          <p:cNvCxnSpPr/>
          <p:nvPr/>
        </p:nvCxnSpPr>
        <p:spPr>
          <a:xfrm rot="5350892">
            <a:off x="7493000" y="5899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128000" y="53975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4472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安全告警审计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自动识别异常节点与攻击行为，生成告警日志并可视化展示，形成完整的安全审计链路。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762000" y="64770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注：此处展示为平台功能模块说明，实际运行截图见附录演示章节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dashboard_over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9905" y="3060700"/>
            <a:ext cx="6602095" cy="3797300"/>
          </a:xfrm>
          <a:prstGeom prst="rect">
            <a:avLst/>
          </a:prstGeom>
        </p:spPr>
      </p:pic>
      <p:pic>
        <p:nvPicPr>
          <p:cNvPr id="6" name="图片 5" descr="dashboard_monit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36080" cy="4217035"/>
          </a:xfrm>
          <a:prstGeom prst="rect">
            <a:avLst/>
          </a:prstGeom>
        </p:spPr>
      </p:pic>
      <p:pic>
        <p:nvPicPr>
          <p:cNvPr id="7" name="图片 6" descr="dashboard_blockchain"/>
          <p:cNvPicPr>
            <a:picLocks noChangeAspect="1"/>
          </p:cNvPicPr>
          <p:nvPr/>
        </p:nvPicPr>
        <p:blipFill>
          <a:blip r:embed="rId3"/>
          <a:srcRect t="4383" r="5438" b="21631"/>
          <a:stretch>
            <a:fillRect/>
          </a:stretch>
        </p:blipFill>
        <p:spPr>
          <a:xfrm>
            <a:off x="0" y="4217670"/>
            <a:ext cx="5866765" cy="26403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dashboard_over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1995" y="4476115"/>
            <a:ext cx="7660005" cy="2381885"/>
          </a:xfrm>
          <a:prstGeom prst="rect">
            <a:avLst/>
          </a:prstGeom>
        </p:spPr>
      </p:pic>
      <p:pic>
        <p:nvPicPr>
          <p:cNvPr id="9" name="图片 8" descr="blockchain_pipeline_sta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043670" cy="447611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系统演示与成果验证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2921000"/>
          </a:xfrm>
          <a:prstGeom prst="roundRect">
            <a:avLst>
              <a:gd name="adj" fmla="val 0"/>
            </a:avLst>
          </a:prstGeom>
          <a:solidFill>
            <a:srgbClr val="00C89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286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2606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并发连接测试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566">
            <a:off x="952513" y="2914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3111500"/>
            <a:ext cx="2997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模拟不同数量的客户端同时发起连接请求，持续监测服务器的CPU资源占用情况及响应稳定性。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191000"/>
            <a:ext cx="299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系统可支撑10+节点并发通信，CPU占用率稳定。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94200" y="2032000"/>
            <a:ext cx="3378200" cy="2921000"/>
          </a:xfrm>
          <a:prstGeom prst="roundRect">
            <a:avLst>
              <a:gd name="adj" fmla="val 0"/>
            </a:avLst>
          </a:prstGeom>
          <a:solidFill>
            <a:srgbClr val="00C89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942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4700" y="2286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029200" y="22606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消息吞吐量测试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566">
            <a:off x="4584713" y="2914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584700" y="3111500"/>
            <a:ext cx="2997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控制客户端以梯度速率持续发送消息包，统计并分析服务器在单位时间内成功处理的消息总数。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584700" y="4191000"/>
            <a:ext cx="299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消息处理能力满足多智能体协同实时性需求。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26400" y="2032000"/>
            <a:ext cx="3378200" cy="2921000"/>
          </a:xfrm>
          <a:prstGeom prst="roundRect">
            <a:avLst>
              <a:gd name="adj" fmla="val 0"/>
            </a:avLst>
          </a:prstGeom>
          <a:solidFill>
            <a:srgbClr val="00C89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0264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16900" y="22860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661400" y="22606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广播延迟测试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4566">
            <a:off x="8216913" y="2914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216900" y="3111500"/>
            <a:ext cx="2997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记录单条消息从源节点发出，到网络中所有目标节点完成接收并确认的完整时间间隔。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216900" y="4191000"/>
            <a:ext cx="299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单节点广播延迟在百毫秒量级。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5270500"/>
            <a:ext cx="10668000" cy="444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762000" y="5270500"/>
            <a:ext cx="76200" cy="444500"/>
          </a:xfrm>
          <a:prstGeom prst="roundRect">
            <a:avLst>
              <a:gd name="adj" fmla="val 0"/>
            </a:avLst>
          </a:prstGeom>
          <a:solidFill>
            <a:srgbClr val="88888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1016000" y="5334000"/>
            <a:ext cx="1016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测试环境：</a:t>
            </a:r>
            <a:r>
              <a:rPr lang="en-US" sz="10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操作系统：</a:t>
            </a:r>
            <a:r>
              <a:rPr lang="en-US" altLang="zh-CN" sz="10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Windows11 + Python 3.13（.venv）</a:t>
            </a:r>
            <a:r>
              <a:rPr lang="en-US" sz="10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| 测试方式：本地集群模拟 | 网络条件：千兆局域网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58420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注：性能数据基于本地asyncio事件循环模拟测试，实际部署性能取决于硬件与网络环境。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系统演示与成果验证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335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实验环境搭建：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部署轻量级物联网仿真环境，配置合法/恶意节点各3台，服务器端部署ECDSA签名验签模块，模拟真实通信链路。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2921000"/>
          </a:xfrm>
          <a:prstGeom prst="roundRect">
            <a:avLst>
              <a:gd name="adj" fmla="val 0"/>
            </a:avLst>
          </a:prstGeom>
          <a:solidFill>
            <a:srgbClr val="00C896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76200" cy="29210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实验一：消息篡改攻击验证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6352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7686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攻击方式：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恶意节点截获合法消息并篡改内容后重新发送，试图破坏数据完整性，干扰服务器处理。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619500"/>
            <a:ext cx="2222500" cy="1143000"/>
          </a:xfrm>
          <a:prstGeom prst="roundRect">
            <a:avLst>
              <a:gd name="adj" fmla="val 0"/>
            </a:avLst>
          </a:prstGeom>
          <a:solidFill>
            <a:srgbClr val="EF444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117600" y="36830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关闭签名验证：</a:t>
            </a: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服务器无验签逻辑，直接接收并执行篡改后的非法消息，攻击成功渗透。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92500" y="3619500"/>
            <a:ext cx="2222500" cy="1143000"/>
          </a:xfrm>
          <a:prstGeom prst="roundRect">
            <a:avLst>
              <a:gd name="adj" fmla="val 0"/>
            </a:avLst>
          </a:prstGeom>
          <a:solidFill>
            <a:srgbClr val="00C89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594100" y="36830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00B48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开启签名验证：</a:t>
            </a: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签名验证失败，服务器直接丢弃篡改消息并记录日志，攻击被100%拦截。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2032000"/>
            <a:ext cx="5207000" cy="2921000"/>
          </a:xfrm>
          <a:prstGeom prst="roundRect">
            <a:avLst>
              <a:gd name="adj" fmla="val 0"/>
            </a:avLst>
          </a:prstGeom>
          <a:solidFill>
            <a:srgbClr val="00C896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23000" y="2032000"/>
            <a:ext cx="76200" cy="29210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2159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实验二：身份伪造攻击验证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291">
            <a:off x="6477009" y="26352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477000" y="27686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攻击方式：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恶意节点盗用合法节点ID发送伪造指令，冒充授权身份，试图绕过权限校验机制。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3619500"/>
            <a:ext cx="2222500" cy="1143000"/>
          </a:xfrm>
          <a:prstGeom prst="roundRect">
            <a:avLst>
              <a:gd name="adj" fmla="val 0"/>
            </a:avLst>
          </a:prstGeom>
          <a:solidFill>
            <a:srgbClr val="EF444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578600" y="36830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关闭签名验证：</a:t>
            </a: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服务器无法鉴别身份真伪，错误执行伪造指令，系统安全边界被突破。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953500" y="3619500"/>
            <a:ext cx="2222500" cy="1143000"/>
          </a:xfrm>
          <a:prstGeom prst="roundRect">
            <a:avLst>
              <a:gd name="adj" fmla="val 0"/>
            </a:avLst>
          </a:prstGeom>
          <a:solidFill>
            <a:srgbClr val="00C89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055100" y="36830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00B48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开启签名验证：</a:t>
            </a: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公钥校验签名无效，精准识别身份冒充行为，阻断非法指令执行并告警。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143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00C896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53213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651000" y="5187950"/>
            <a:ext cx="965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关键代码验证点：</a:t>
            </a:r>
            <a:r>
              <a:rPr lang="en-US" sz="13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在服务器消息处理入口添加验签逻辑，若签名验证失败直接丢弃消息：</a:t>
            </a:r>
            <a:endParaRPr lang="en-US" sz="1300" b="0" i="0" u="none" strike="noStrike">
              <a:solidFill>
                <a:srgbClr val="44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 sz="1300" b="1" i="0" u="none" strike="noStrike">
                <a:solidFill>
                  <a:srgbClr val="00B48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 服务器消息处理入口：</a:t>
            </a:r>
            <a:r>
              <a:rPr lang="en-US" altLang="zh-CN" sz="1300" b="1" i="0" u="none" strike="noStrike">
                <a:solidFill>
                  <a:srgbClr val="00B48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ECDSA</a:t>
            </a:r>
            <a:r>
              <a:rPr lang="zh-CN" altLang="en-US" sz="1300" b="1" i="0" u="none" strike="noStrike">
                <a:solidFill>
                  <a:srgbClr val="00B48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验签</a:t>
            </a:r>
            <a:r>
              <a:rPr lang="en-US" altLang="zh-CN" sz="1300" b="1" i="0" u="none" strike="noStrike">
                <a:solidFill>
                  <a:srgbClr val="00B48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if not ecdsa.verify(msg, signature):</a:t>
            </a:r>
            <a:endParaRPr lang="en-US" altLang="zh-CN" sz="1300" b="1" i="0" u="none" strike="noStrike">
              <a:solidFill>
                <a:srgbClr val="00B48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altLang="zh-CN" sz="1300" b="1" i="0" u="none" strike="noStrike">
                <a:solidFill>
                  <a:srgbClr val="00B48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logger.error("</a:t>
            </a:r>
            <a:r>
              <a:rPr lang="zh-CN" altLang="en-US" sz="1300" b="1" i="0" u="none" strike="noStrike">
                <a:solidFill>
                  <a:srgbClr val="00B48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验签失败，丢弃消息")</a:t>
            </a:r>
            <a:endParaRPr lang="zh-CN" altLang="en-US" sz="1300" b="1" i="0" u="none" strike="noStrike">
              <a:solidFill>
                <a:srgbClr val="00B48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altLang="zh-CN" sz="1300" b="1" i="0" u="none" strike="noStrike">
                <a:solidFill>
                  <a:srgbClr val="00B48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return</a:t>
            </a:r>
            <a:endParaRPr lang="en-US" altLang="zh-CN" sz="1300" b="1" i="0" u="none" strike="noStrike">
              <a:solidFill>
                <a:srgbClr val="00B48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endParaRPr lang="en-US" altLang="zh-CN" sz="1300" b="1" i="0" u="none" strike="noStrike">
              <a:solidFill>
                <a:srgbClr val="00B48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762000" y="6032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验证结论：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ECDSA算法可100%拦截篡改与伪造类攻击，保障数据</a:t>
            </a:r>
            <a:r>
              <a:rPr lang="en-US" sz="13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完整性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与节点</a:t>
            </a:r>
            <a:r>
              <a:rPr lang="en-US" sz="13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身份真实性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security_test_resul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521825" cy="48488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61010" y="444976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0" i="0">
                <a:latin typeface="-apple-system"/>
                <a:ea typeface="-apple-system"/>
              </a:rPr>
              <a:t>系统演示与验证 </a:t>
            </a:r>
            <a:r>
              <a:rPr lang="en-US" altLang="zh-CN" sz="1600" b="0" i="0">
                <a:latin typeface="-apple-system"/>
                <a:ea typeface="-apple-system"/>
              </a:rPr>
              <a:t>→ </a:t>
            </a:r>
            <a:r>
              <a:rPr lang="zh-CN" altLang="en-US" sz="1600" b="0" i="0">
                <a:latin typeface="-apple-system"/>
                <a:ea typeface="-apple-system"/>
              </a:rPr>
              <a:t>插入篡改</a:t>
            </a:r>
            <a:r>
              <a:rPr lang="en-US" altLang="zh-CN" sz="1600" b="0" i="0">
                <a:latin typeface="-apple-system"/>
                <a:ea typeface="-apple-system"/>
              </a:rPr>
              <a:t>/</a:t>
            </a:r>
            <a:r>
              <a:rPr lang="zh-CN" altLang="en-US" sz="1600" b="0" i="0">
                <a:latin typeface="-apple-system"/>
                <a:ea typeface="-apple-system"/>
              </a:rPr>
              <a:t>伪造攻击测试结果对比</a:t>
            </a:r>
            <a:endParaRPr lang="zh-CN" altLang="en-US" sz="1600" b="0" i="0"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08370" y="3780790"/>
            <a:ext cx="6096000" cy="28917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from ecdsa import VerifyingKey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def handle_message(self, data: dict, sender_id: str):</a:t>
            </a:r>
            <a:endParaRPr lang="en-US" altLang="zh-CN"/>
          </a:p>
          <a:p>
            <a:r>
              <a:rPr lang="en-US" altLang="zh-CN"/>
              <a:t>    msg    = data.get("payload")</a:t>
            </a:r>
            <a:endParaRPr lang="en-US" altLang="zh-CN"/>
          </a:p>
          <a:p>
            <a:r>
              <a:rPr lang="en-US" altLang="zh-CN"/>
              <a:t>    sig    = data.get("signature")</a:t>
            </a:r>
            <a:endParaRPr lang="en-US" altLang="zh-CN"/>
          </a:p>
          <a:p>
            <a:r>
              <a:rPr lang="en-US" altLang="zh-CN"/>
              <a:t>    pub_key = self.key_manager.get_key(sender_id)</a:t>
            </a:r>
            <a:endParaRPr lang="en-US" altLang="zh-CN"/>
          </a:p>
          <a:p>
            <a:r>
              <a:rPr lang="en-US" altLang="zh-CN"/>
              <a:t>    </a:t>
            </a:r>
            <a:endParaRPr lang="en-US" altLang="zh-CN"/>
          </a:p>
          <a:p>
            <a:r>
              <a:rPr lang="en-US" altLang="zh-CN"/>
              <a:t>    if not pub_key.verify(msg, sig):</a:t>
            </a:r>
            <a:endParaRPr lang="en-US" altLang="zh-CN"/>
          </a:p>
          <a:p>
            <a:r>
              <a:rPr lang="en-US" altLang="zh-CN"/>
              <a:t>        self.logger.error(f"</a:t>
            </a:r>
            <a:r>
              <a:rPr lang="zh-CN" altLang="en-US"/>
              <a:t>验签失败: 来自 {</a:t>
            </a:r>
            <a:r>
              <a:rPr lang="en-US" altLang="zh-CN"/>
              <a:t>sender_id}")</a:t>
            </a:r>
            <a:endParaRPr lang="en-US" altLang="zh-CN"/>
          </a:p>
          <a:p>
            <a:r>
              <a:rPr lang="en-US" altLang="zh-CN"/>
              <a:t>        return  # </a:t>
            </a:r>
            <a:r>
              <a:rPr lang="zh-CN" altLang="en-US"/>
              <a:t>直接丢弃非法消息</a:t>
            </a:r>
            <a:endParaRPr lang="zh-CN" altLang="en-US"/>
          </a:p>
          <a:p>
            <a:r>
              <a:rPr lang="en-US" altLang="zh-CN"/>
              <a:t>    </a:t>
            </a:r>
            <a:endParaRPr lang="en-US" altLang="zh-CN"/>
          </a:p>
          <a:p>
            <a:r>
              <a:rPr lang="en-US" altLang="zh-CN"/>
              <a:t>    self.process_business(msg)  # </a:t>
            </a:r>
            <a:r>
              <a:rPr lang="zh-CN" altLang="en-US"/>
              <a:t>验签通过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系统演示与成果验证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00C896">
              <a:alpha val="5000"/>
            </a:srgbClr>
          </a:solidFill>
          <a:ln w="12700" cap="flat" cmpd="sng">
            <a:solidFill>
              <a:srgbClr val="00C89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2286000"/>
            <a:ext cx="406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节点故障恢复测试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914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89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175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测试方法：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模拟共识节点突发宕机故障，切断目标节点的网络与进程连接，观察系统整体共识流程的运行状态。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191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测试结果：</a:t>
            </a:r>
            <a:r>
              <a:rPr lang="zh-CN" altLang="en-US" sz="1500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系统在节点连接异常后，通过</a:t>
            </a:r>
            <a:r>
              <a:rPr lang="en-US" altLang="zh-CN" sz="1500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TCP</a:t>
            </a:r>
            <a:r>
              <a:rPr lang="zh-CN" altLang="en-US" sz="1500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断链检测与超时机制完成故障识别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，自动将共识任务无缝迁移至集群内其他正常节点，整个共识过程未发生中断，数据处理链路保持连续。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032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00C896">
              <a:alpha val="5000"/>
            </a:srgbClr>
          </a:solidFill>
          <a:ln w="12700" cap="flat" cmpd="sng">
            <a:solidFill>
              <a:srgbClr val="00C89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286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048500" y="2286000"/>
            <a:ext cx="406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网络分区恢复测试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291">
            <a:off x="6477009" y="2914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89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477000" y="3175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测试方法：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通过网络隔离手段将系统集群切分为两个相互独立的网络分区，使分区内节点各自运行；间隔预设时间后，重新恢复分区间的网络通信连接。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4191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测试结果：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网络恢复后，两个分区自动启动数据同步与状态校验机制，快速完成差异数据的比对与合并，最终所有节点达成全局一致的系统状态，无数据丢失或错误。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588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00C89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8674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778000" y="5740400"/>
            <a:ext cx="927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核心结论：</a:t>
            </a:r>
            <a:r>
              <a:rPr lang="en-US" sz="15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系统在节点异常宕机与网络分区等极端场景下，均能实现故障检测、任务迁移与数据自愈，初步验证了系统具备基本的容错能力与高可用性，基本符合分布式系统的健壮性设计要求。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总结与展望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核心贡献回顾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00C89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76200" cy="10795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构建完整的安全分布式通信系统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打通底层网络通信与上层应用逻辑，实现端到端的全流程安全管控，确保系统架构的完整性与可扩展性。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937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00C89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937000"/>
            <a:ext cx="76200" cy="10795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40640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落地ECDSA数字签名的安全实践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成功将椭圆曲线数字签名算法应用于节点身份认证与数据传输校验，从根源上解决了数据篡改与身份冒充问题。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5207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00C89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5207000"/>
            <a:ext cx="76200" cy="10795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6000" y="53340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实现高效的P2P动态组网协议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设计并实现支持节点动态加入、退出的P2P网络协议，优化了节点发现与数据同步机制，保障传输的可靠性。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 rot="5389889">
            <a:off x="41275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540500" y="1905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关键技术与知识沉淀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40500" y="2667000"/>
            <a:ext cx="2514600" cy="1651000"/>
          </a:xfrm>
          <a:prstGeom prst="roundRect">
            <a:avLst>
              <a:gd name="adj" fmla="val 0"/>
            </a:avLst>
          </a:prstGeom>
          <a:solidFill>
            <a:srgbClr val="333333">
              <a:alpha val="3000"/>
            </a:srgbClr>
          </a:solidFill>
          <a:ln w="12700" cap="flat" cmpd="sng">
            <a:solidFill>
              <a:srgbClr val="00C89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67500" y="2794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48500" y="27686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Socket 网络编程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9312">
            <a:off x="6667518" y="3295650"/>
            <a:ext cx="2260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667500" y="3429000"/>
            <a:ext cx="2260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熟练掌握TCP Socket服务端与客户端开发流程，深入理解网络字节流传输的核心机制与异常处理。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207500" y="2667000"/>
            <a:ext cx="2514600" cy="1651000"/>
          </a:xfrm>
          <a:prstGeom prst="roundRect">
            <a:avLst>
              <a:gd name="adj" fmla="val 0"/>
            </a:avLst>
          </a:prstGeom>
          <a:solidFill>
            <a:srgbClr val="333333">
              <a:alpha val="3000"/>
            </a:srgbClr>
          </a:solidFill>
          <a:ln w="12700" cap="flat" cmpd="sng">
            <a:solidFill>
              <a:srgbClr val="00C89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4500" y="2794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715500" y="27686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asyncio 异步并发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9312">
            <a:off x="9334518" y="3295650"/>
            <a:ext cx="2260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9334500" y="3429000"/>
            <a:ext cx="2260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实践基于asyncio的异步并发网络请求处理，利用事件循环机制实现高并发IO操作，提升系统响应与吞吐量。</a:t>
            </a:r>
            <a:endParaRPr lang="en-US" sz="1100"/>
          </a:p>
        </p:txBody>
      </p:sp>
      <p:sp>
        <p:nvSpPr>
          <p:cNvPr id="26" name="AutoShape 26"/>
          <p:cNvSpPr/>
          <p:nvPr>
            <p:custDataLst>
              <p:tags r:id="rId5"/>
            </p:custDataLst>
          </p:nvPr>
        </p:nvSpPr>
        <p:spPr>
          <a:xfrm>
            <a:off x="6540500" y="4572000"/>
            <a:ext cx="1625600" cy="1714500"/>
          </a:xfrm>
          <a:prstGeom prst="roundRect">
            <a:avLst>
              <a:gd name="adj" fmla="val 0"/>
            </a:avLst>
          </a:prstGeom>
          <a:solidFill>
            <a:srgbClr val="333333">
              <a:alpha val="3000"/>
            </a:srgbClr>
          </a:solidFill>
          <a:ln w="12700" cap="flat" cmpd="sng">
            <a:solidFill>
              <a:srgbClr val="00C89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4699000"/>
            <a:ext cx="279400" cy="279400"/>
          </a:xfrm>
          <a:prstGeom prst="rect">
            <a:avLst/>
          </a:prstGeom>
        </p:spPr>
      </p:pic>
      <p:sp>
        <p:nvSpPr>
          <p:cNvPr id="28" name="AutoShape 28"/>
          <p:cNvSpPr/>
          <p:nvPr>
            <p:custDataLst>
              <p:tags r:id="rId9"/>
            </p:custDataLst>
          </p:nvPr>
        </p:nvSpPr>
        <p:spPr>
          <a:xfrm>
            <a:off x="7010400" y="4673600"/>
            <a:ext cx="1079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协议设计</a:t>
            </a:r>
            <a:endParaRPr lang="en-US" sz="1100"/>
          </a:p>
        </p:txBody>
      </p:sp>
      <p:cxnSp>
        <p:nvCxnSpPr>
          <p:cNvPr id="29" name="Connector 29"/>
          <p:cNvCxnSpPr/>
          <p:nvPr>
            <p:custDataLst>
              <p:tags r:id="rId10"/>
            </p:custDataLst>
          </p:nvPr>
        </p:nvCxnSpPr>
        <p:spPr>
          <a:xfrm rot="-31830">
            <a:off x="6667529" y="5137150"/>
            <a:ext cx="137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>
            <p:custDataLst>
              <p:tags r:id="rId11"/>
            </p:custDataLst>
          </p:nvPr>
        </p:nvSpPr>
        <p:spPr>
          <a:xfrm>
            <a:off x="6667500" y="5270500"/>
            <a:ext cx="1371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掌握应用层协议定制要素，实现了基于数据包的可靠解析与交互规范。</a:t>
            </a:r>
            <a:endParaRPr lang="en-US" sz="1100"/>
          </a:p>
        </p:txBody>
      </p:sp>
      <p:sp>
        <p:nvSpPr>
          <p:cNvPr id="31" name="AutoShape 31"/>
          <p:cNvSpPr/>
          <p:nvPr>
            <p:custDataLst>
              <p:tags r:id="rId12"/>
            </p:custDataLst>
          </p:nvPr>
        </p:nvSpPr>
        <p:spPr>
          <a:xfrm>
            <a:off x="8305800" y="4572000"/>
            <a:ext cx="1625600" cy="1714500"/>
          </a:xfrm>
          <a:prstGeom prst="roundRect">
            <a:avLst>
              <a:gd name="adj" fmla="val 0"/>
            </a:avLst>
          </a:prstGeom>
          <a:solidFill>
            <a:srgbClr val="333333">
              <a:alpha val="3000"/>
            </a:srgbClr>
          </a:solidFill>
          <a:ln w="12700" cap="flat" cmpd="sng">
            <a:solidFill>
              <a:srgbClr val="00C89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32800" y="4699000"/>
            <a:ext cx="279400" cy="279400"/>
          </a:xfrm>
          <a:prstGeom prst="rect">
            <a:avLst/>
          </a:prstGeom>
        </p:spPr>
      </p:pic>
      <p:sp>
        <p:nvSpPr>
          <p:cNvPr id="33" name="AutoShape 33"/>
          <p:cNvSpPr/>
          <p:nvPr>
            <p:custDataLst>
              <p:tags r:id="rId16"/>
            </p:custDataLst>
          </p:nvPr>
        </p:nvSpPr>
        <p:spPr>
          <a:xfrm>
            <a:off x="8775700" y="4673600"/>
            <a:ext cx="1079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P2P技术</a:t>
            </a:r>
            <a:endParaRPr lang="en-US" sz="1100"/>
          </a:p>
        </p:txBody>
      </p:sp>
      <p:cxnSp>
        <p:nvCxnSpPr>
          <p:cNvPr id="34" name="Connector 34"/>
          <p:cNvCxnSpPr/>
          <p:nvPr>
            <p:custDataLst>
              <p:tags r:id="rId17"/>
            </p:custDataLst>
          </p:nvPr>
        </p:nvCxnSpPr>
        <p:spPr>
          <a:xfrm rot="-31830">
            <a:off x="8432829" y="5137150"/>
            <a:ext cx="137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>
            <p:custDataLst>
              <p:tags r:id="rId18"/>
            </p:custDataLst>
          </p:nvPr>
        </p:nvSpPr>
        <p:spPr>
          <a:xfrm>
            <a:off x="8432800" y="5270500"/>
            <a:ext cx="1371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理解去中心化网络架构，实践节点发现、路由维护与数据</a:t>
            </a:r>
            <a:r>
              <a:rPr lang="zh-CN" alt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同步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机制。</a:t>
            </a:r>
            <a:endParaRPr lang="en-US" sz="1100"/>
          </a:p>
        </p:txBody>
      </p:sp>
      <p:sp>
        <p:nvSpPr>
          <p:cNvPr id="36" name="AutoShape 36"/>
          <p:cNvSpPr/>
          <p:nvPr>
            <p:custDataLst>
              <p:tags r:id="rId19"/>
            </p:custDataLst>
          </p:nvPr>
        </p:nvSpPr>
        <p:spPr>
          <a:xfrm>
            <a:off x="10071100" y="4572000"/>
            <a:ext cx="1625600" cy="1714500"/>
          </a:xfrm>
          <a:prstGeom prst="roundRect">
            <a:avLst>
              <a:gd name="adj" fmla="val 0"/>
            </a:avLst>
          </a:prstGeom>
          <a:solidFill>
            <a:srgbClr val="333333">
              <a:alpha val="3000"/>
            </a:srgbClr>
          </a:solidFill>
          <a:ln w="12700" cap="flat" cmpd="sng">
            <a:solidFill>
              <a:srgbClr val="00C89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7" name="Picture 37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198100" y="4699000"/>
            <a:ext cx="279400" cy="279400"/>
          </a:xfrm>
          <a:prstGeom prst="rect">
            <a:avLst/>
          </a:prstGeom>
        </p:spPr>
      </p:pic>
      <p:sp>
        <p:nvSpPr>
          <p:cNvPr id="38" name="AutoShape 38"/>
          <p:cNvSpPr/>
          <p:nvPr>
            <p:custDataLst>
              <p:tags r:id="rId23"/>
            </p:custDataLst>
          </p:nvPr>
        </p:nvSpPr>
        <p:spPr>
          <a:xfrm>
            <a:off x="10541000" y="4673600"/>
            <a:ext cx="1079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安全加密</a:t>
            </a:r>
            <a:endParaRPr lang="en-US" sz="1100"/>
          </a:p>
        </p:txBody>
      </p:sp>
      <p:cxnSp>
        <p:nvCxnSpPr>
          <p:cNvPr id="39" name="Connector 39"/>
          <p:cNvCxnSpPr/>
          <p:nvPr>
            <p:custDataLst>
              <p:tags r:id="rId24"/>
            </p:custDataLst>
          </p:nvPr>
        </p:nvCxnSpPr>
        <p:spPr>
          <a:xfrm rot="-31830">
            <a:off x="10198129" y="5137150"/>
            <a:ext cx="137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AutoShape 40"/>
          <p:cNvSpPr/>
          <p:nvPr>
            <p:custDataLst>
              <p:tags r:id="rId25"/>
            </p:custDataLst>
          </p:nvPr>
        </p:nvSpPr>
        <p:spPr>
          <a:xfrm>
            <a:off x="10198100" y="5270500"/>
            <a:ext cx="1371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运用非对称加密体系保障通信安全，建立了完整的身份鉴权与数据防篡改体系。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dashboard_compa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8490" y="0"/>
            <a:ext cx="7763510" cy="4465320"/>
          </a:xfrm>
          <a:prstGeom prst="rect">
            <a:avLst/>
          </a:prstGeom>
        </p:spPr>
      </p:pic>
      <p:pic>
        <p:nvPicPr>
          <p:cNvPr id="4" name="图片 3" descr="three_mode_reward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8330" y="2985135"/>
            <a:ext cx="6503670" cy="3872865"/>
          </a:xfrm>
          <a:prstGeom prst="rect">
            <a:avLst/>
          </a:prstGeom>
        </p:spPr>
      </p:pic>
      <p:pic>
        <p:nvPicPr>
          <p:cNvPr id="3" name="图片 2" descr="dashboard_tri"/>
          <p:cNvPicPr>
            <a:picLocks noChangeAspect="1"/>
          </p:cNvPicPr>
          <p:nvPr/>
        </p:nvPicPr>
        <p:blipFill>
          <a:blip r:embed="rId3"/>
          <a:srcRect l="3432" r="18017" b="11859"/>
          <a:stretch>
            <a:fillRect/>
          </a:stretch>
        </p:blipFill>
        <p:spPr>
          <a:xfrm>
            <a:off x="0" y="3156585"/>
            <a:ext cx="5734685" cy="3701415"/>
          </a:xfrm>
          <a:prstGeom prst="rect">
            <a:avLst/>
          </a:prstGeom>
        </p:spPr>
      </p:pic>
      <p:pic>
        <p:nvPicPr>
          <p:cNvPr id="5" name="图片 4" descr="training_curv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363210" cy="315658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ooperation_rat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198235" cy="3099435"/>
          </a:xfrm>
          <a:prstGeom prst="rect">
            <a:avLst/>
          </a:prstGeom>
        </p:spPr>
      </p:pic>
      <p:pic>
        <p:nvPicPr>
          <p:cNvPr id="3" name="图片 2" descr="reward_comparison_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400" y="2901950"/>
            <a:ext cx="7975600" cy="3956050"/>
          </a:xfrm>
          <a:prstGeom prst="rect">
            <a:avLst/>
          </a:prstGeom>
        </p:spPr>
      </p:pic>
      <p:pic>
        <p:nvPicPr>
          <p:cNvPr id="4" name="图片 3" descr="leader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80" y="0"/>
            <a:ext cx="5906770" cy="29540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总结与展望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C89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00C896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76200" cy="18415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2225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架构扩展：多进程与多主机部署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8575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支持多进程模式以充分利用多核CPU资源，并扩展至多主机集群部署，通过分布式架构提升系统的计算能力与数据处理规模，打破单机性能瓶颈。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00C896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223000" y="2032000"/>
            <a:ext cx="76200" cy="18415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77000" y="22225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协议扩展：功能与机制完善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8575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在现有协议基础上，增加消息优先级机制与数据分片传输功能，优化复杂网络环境下的传输可靠性，同时完善异常处理逻辑，提升协议的健壮性与适用性。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318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00C896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4318000"/>
            <a:ext cx="76200" cy="18415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45085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工程落地：标准化与自动化部署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51435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推进系统配置标准化，采用自动化部署工具（如Ansible）实现一键部署与版本更新，减少人工操作失误，提升交付效率与运维管理的便捷性。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318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00C896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223000" y="4318000"/>
            <a:ext cx="76200" cy="18415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77000" y="45085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验证升级：真实网络环境测试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51435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在跨运营商、跨地域的真实网络环境中开展测试，模拟高延迟、高丢包率等复杂场景，全面验证系统在非理想网络条件下的通信质量与稳定性。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333333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-1270000"/>
            <a:ext cx="5080000" cy="5080000"/>
          </a:xfrm>
          <a:prstGeom prst="ellipse">
            <a:avLst/>
          </a:prstGeom>
          <a:solidFill>
            <a:srgbClr val="00C89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652000" y="4318000"/>
            <a:ext cx="3810000" cy="3810000"/>
          </a:xfrm>
          <a:prstGeom prst="ellipse">
            <a:avLst/>
          </a:prstGeom>
          <a:solidFill>
            <a:srgbClr val="00C89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266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461000" y="40640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C8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0" y="4572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3200" b="1" i="0" u="none" strike="noStrike">
                <a:solidFill>
                  <a:srgbClr val="00C8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r>
              <a:rPr lang="en-US" sz="18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欢迎各位老师、同学批评指正与交流探讨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596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</a:t>
            </a:r>
            <a:r>
              <a:rPr lang="zh-CN" altLang="en-US" sz="14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张敏杰</a:t>
            </a:r>
            <a:r>
              <a:rPr lang="en-US" sz="14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|   2026年学术汇报演示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2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3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4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5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6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7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8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9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10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11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12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13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14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15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16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17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18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19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20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21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22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23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24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25.xml><?xml version="1.0" encoding="utf-8"?>
<p:tagLst xmlns:p="http://schemas.openxmlformats.org/presentationml/2006/main">
  <p:tag name="KSO_WM_DIAGRAM_VIRTUALLY_FRAME" val="{&quot;height&quot;:135,&quot;left&quot;:515,&quot;top&quot;:360,&quot;width&quot;:406}"/>
</p:tagLst>
</file>

<file path=ppt/tags/tag26.xml><?xml version="1.0" encoding="utf-8"?>
<p:tagLst xmlns:p="http://schemas.openxmlformats.org/presentationml/2006/main">
  <p:tag name="KSO_WM_DIAGRAM_VIRTUALLY_FRAME" val="{&quot;height&quot;:135,&quot;left&quot;:515,&quot;top&quot;:360,&quot;width&quot;:406}"/>
</p:tagLst>
</file>

<file path=ppt/tags/tag27.xml><?xml version="1.0" encoding="utf-8"?>
<p:tagLst xmlns:p="http://schemas.openxmlformats.org/presentationml/2006/main">
  <p:tag name="KSO_WM_DIAGRAM_VIRTUALLY_FRAME" val="{&quot;height&quot;:135,&quot;left&quot;:515,&quot;top&quot;:360,&quot;width&quot;:406}"/>
</p:tagLst>
</file>

<file path=ppt/tags/tag28.xml><?xml version="1.0" encoding="utf-8"?>
<p:tagLst xmlns:p="http://schemas.openxmlformats.org/presentationml/2006/main">
  <p:tag name="KSO_WM_DIAGRAM_VIRTUALLY_FRAME" val="{&quot;height&quot;:135,&quot;left&quot;:515,&quot;top&quot;:360,&quot;width&quot;:406}"/>
</p:tagLst>
</file>

<file path=ppt/tags/tag29.xml><?xml version="1.0" encoding="utf-8"?>
<p:tagLst xmlns:p="http://schemas.openxmlformats.org/presentationml/2006/main">
  <p:tag name="KSO_WM_DIAGRAM_VIRTUALLY_FRAME" val="{&quot;height&quot;:135,&quot;left&quot;:515,&quot;top&quot;:360,&quot;width&quot;:406}"/>
</p:tagLst>
</file>

<file path=ppt/tags/tag30.xml><?xml version="1.0" encoding="utf-8"?>
<p:tagLst xmlns:p="http://schemas.openxmlformats.org/presentationml/2006/main">
  <p:tag name="KSO_WM_DIAGRAM_VIRTUALLY_FRAME" val="{&quot;height&quot;:135,&quot;left&quot;:515,&quot;top&quot;:360,&quot;width&quot;:406}"/>
</p:tagLst>
</file>

<file path=ppt/tags/tag31.xml><?xml version="1.0" encoding="utf-8"?>
<p:tagLst xmlns:p="http://schemas.openxmlformats.org/presentationml/2006/main">
  <p:tag name="KSO_WM_DIAGRAM_VIRTUALLY_FRAME" val="{&quot;height&quot;:135,&quot;left&quot;:515,&quot;top&quot;:360,&quot;width&quot;:406}"/>
</p:tagLst>
</file>

<file path=ppt/tags/tag32.xml><?xml version="1.0" encoding="utf-8"?>
<p:tagLst xmlns:p="http://schemas.openxmlformats.org/presentationml/2006/main">
  <p:tag name="KSO_WM_DIAGRAM_VIRTUALLY_FRAME" val="{&quot;height&quot;:135,&quot;left&quot;:515,&quot;top&quot;:360,&quot;width&quot;:406}"/>
</p:tagLst>
</file>

<file path=ppt/tags/tag33.xml><?xml version="1.0" encoding="utf-8"?>
<p:tagLst xmlns:p="http://schemas.openxmlformats.org/presentationml/2006/main">
  <p:tag name="KSO_WM_DIAGRAM_VIRTUALLY_FRAME" val="{&quot;height&quot;:135,&quot;left&quot;:515,&quot;top&quot;:360,&quot;width&quot;:406}"/>
</p:tagLst>
</file>

<file path=ppt/tags/tag34.xml><?xml version="1.0" encoding="utf-8"?>
<p:tagLst xmlns:p="http://schemas.openxmlformats.org/presentationml/2006/main">
  <p:tag name="KSO_WM_DIAGRAM_VIRTUALLY_FRAME" val="{&quot;height&quot;:135,&quot;left&quot;:515,&quot;top&quot;:360,&quot;width&quot;:406}"/>
</p:tagLst>
</file>

<file path=ppt/tags/tag35.xml><?xml version="1.0" encoding="utf-8"?>
<p:tagLst xmlns:p="http://schemas.openxmlformats.org/presentationml/2006/main">
  <p:tag name="KSO_WM_DIAGRAM_VIRTUALLY_FRAME" val="{&quot;height&quot;:135,&quot;left&quot;:515,&quot;top&quot;:360,&quot;width&quot;:406}"/>
</p:tagLst>
</file>

<file path=ppt/tags/tag36.xml><?xml version="1.0" encoding="utf-8"?>
<p:tagLst xmlns:p="http://schemas.openxmlformats.org/presentationml/2006/main">
  <p:tag name="KSO_WM_DIAGRAM_VIRTUALLY_FRAME" val="{&quot;height&quot;:135,&quot;left&quot;:515,&quot;top&quot;:360,&quot;width&quot;:406}"/>
</p:tagLst>
</file>

<file path=ppt/tags/tag37.xml><?xml version="1.0" encoding="utf-8"?>
<p:tagLst xmlns:p="http://schemas.openxmlformats.org/presentationml/2006/main">
  <p:tag name="KSO_WM_DIAGRAM_VIRTUALLY_FRAME" val="{&quot;height&quot;:135,&quot;left&quot;:515,&quot;top&quot;:360,&quot;width&quot;:406}"/>
</p:tagLst>
</file>

<file path=ppt/tags/tag38.xml><?xml version="1.0" encoding="utf-8"?>
<p:tagLst xmlns:p="http://schemas.openxmlformats.org/presentationml/2006/main">
  <p:tag name="KSO_WM_DIAGRAM_VIRTUALLY_FRAME" val="{&quot;height&quot;:135,&quot;left&quot;:515,&quot;top&quot;:360,&quot;width&quot;:406}"/>
</p:tagLst>
</file>

<file path=ppt/tags/tag39.xml><?xml version="1.0" encoding="utf-8"?>
<p:tagLst xmlns:p="http://schemas.openxmlformats.org/presentationml/2006/main">
  <p:tag name="KSO_WM_DIAGRAM_VIRTUALLY_FRAME" val="{&quot;height&quot;:135,&quot;left&quot;:515,&quot;top&quot;:360,&quot;width&quot;:406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8764</Words>
  <Application>WPS 演示</Application>
  <PresentationFormat/>
  <Paragraphs>487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9" baseType="lpstr">
      <vt:lpstr>Arial</vt:lpstr>
      <vt:lpstr>宋体</vt:lpstr>
      <vt:lpstr>Wingdings</vt:lpstr>
      <vt:lpstr>Arial</vt:lpstr>
      <vt:lpstr>Noto Sans SC</vt:lpstr>
      <vt:lpstr>Consolas</vt:lpstr>
      <vt:lpstr>微软雅黑</vt:lpstr>
      <vt:lpstr>Arial Unicode MS</vt:lpstr>
      <vt:lpstr>-apple-system</vt:lpstr>
      <vt:lpstr>GreatCamp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张敏杰</cp:lastModifiedBy>
  <cp:revision>1</cp:revision>
  <dcterms:created xsi:type="dcterms:W3CDTF">2026-06-26T05:11:35Z</dcterms:created>
  <dcterms:modified xsi:type="dcterms:W3CDTF">2026-06-26T05:11:35Z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{"Label":"1","ContentProducer":"001191110102MACQD9K64010000","ProduceID":"7655545026001571023","ReservedCode1":"","ContentPropagator":"","PropagateID":"","ReservedCode2":""}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F98553DB7C094CEABAF1BBA8449302D7_12</vt:lpwstr>
  </property>
</Properties>
</file>