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FFFFFF"/>
                </a:solidFill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面 向 协 作 M A R L 的 可 信 共 识 与 激 励 机 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BBCCDD"/>
                </a:solidFill>
              </a:defRPr>
            </a:pPr>
            <a:r>
              <a:t>基于ECDSA身份锚定与贡献加权PBFT的区块链AI协同框架</a:t>
            </a:r>
            <a:br/>
            <a:br/>
            <a:r>
              <a:t>CCF第五届区块链竞赛 · 技术创新赛道</a:t>
            </a:r>
            <a:br/>
            <a:r>
              <a:t>MARL-ECDSA共识链项目组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8288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问题定义：多智能体为什么需要区块链？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</a:defRPr>
            </a:pPr>
            <a:r>
              <a:t>🔴 身份信任缺失：无法确认消息发送方真实身份，中心化CA引入单点故障</a:t>
            </a:r>
            <a:br/>
            <a:r>
              <a:t>🔴 行为不可追溯：智能体行为无法事后审计，日志可以被篡改</a:t>
            </a:r>
            <a:br/>
            <a:r>
              <a:t>🔴 激励无法强制执行：搭便车是理性策略，合作没有额外收益</a:t>
            </a:r>
            <a:br/>
            <a:br/>
            <a:r>
              <a:t>传统方案局限：</a:t>
            </a:r>
            <a:br/>
            <a:r>
              <a:t>• 中心化CA — 单点故障，DigiNotar事件(2011) CA私钥泄露→全局崩溃</a:t>
            </a:r>
            <a:br/>
            <a:r>
              <a:t>• 信任协议 — 无强制执行力的君子协定</a:t>
            </a:r>
            <a:br/>
            <a:r>
              <a:t>• Token激励 — 缺乏MARL协作建模，固定分配</a:t>
            </a:r>
            <a:br/>
            <a:br/>
            <a:r>
              <a:t>我们的答案：区块链 = 去中心化信任基础设施</a:t>
            </a:r>
            <a:br/>
            <a:r>
              <a:t>→ 不可篡改审计 + 密码学身份 + 智能合约自动执行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8288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方案总览：区块链↔MARL双向赋能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</a:defRPr>
            </a:pPr>
            <a:r>
              <a:t>四层架构 + 双向赋能闭环</a:t>
            </a:r>
            <a:br/>
            <a:br/>
            <a:r>
              <a:t>BC → MARL (正向激励重塑):</a:t>
            </a:r>
            <a:br/>
            <a:r>
              <a:t>  total_reward = env_reward + λ · bc_score</a:t>
            </a:r>
            <a:br/>
            <a:r>
              <a:t>  区块链激励重塑奖励信号 → 合作从非理性变为优势策略</a:t>
            </a:r>
            <a:br/>
            <a:br/>
            <a:r>
              <a:t>MARL → BC (反向贡献反馈):</a:t>
            </a:r>
            <a:br/>
            <a:r>
              <a:t>  智能体行为数据 → 贡献度评分 → CW-PBFT节点投票权重</a:t>
            </a:r>
            <a:br/>
            <a:br/>
            <a:r>
              <a:t>核心技术栈: ECDSA(secp256r1) + CW-PBFT + IQL + asyncio P2P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114800"/>
            <a:ext cx="2286000" cy="164592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38A169"/>
                </a:solidFill>
              </a:defRPr>
            </a:pPr>
            <a:r>
              <a:t>+53.1%</a:t>
            </a:r>
          </a:p>
          <a:p>
            <a:pPr algn="ctr">
              <a:defRPr sz="1200">
                <a:solidFill>
                  <a:srgbClr val="2D3748"/>
                </a:solidFill>
              </a:defRPr>
            </a:pPr>
            <a:r>
              <a:t>env_reward提升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4114800"/>
            <a:ext cx="2286000" cy="164592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38A169"/>
                </a:solidFill>
              </a:defRPr>
            </a:pPr>
            <a:r>
              <a:t>100%</a:t>
            </a:r>
          </a:p>
          <a:p>
            <a:pPr algn="ctr">
              <a:defRPr sz="1200">
                <a:solidFill>
                  <a:srgbClr val="2D3748"/>
                </a:solidFill>
              </a:defRPr>
            </a:pPr>
            <a:r>
              <a:t>攻击拦截率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0" y="4114800"/>
            <a:ext cx="2286000" cy="164592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38A169"/>
                </a:solidFill>
              </a:defRPr>
            </a:pPr>
            <a:r>
              <a:t>2.03</a:t>
            </a:r>
          </a:p>
          <a:p>
            <a:pPr algn="ctr">
              <a:defRPr sz="1200">
                <a:solidFill>
                  <a:srgbClr val="2D3748"/>
                </a:solidFill>
              </a:defRPr>
            </a:pPr>
            <a:r>
              <a:t>Cohen's 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4114800"/>
            <a:ext cx="2286000" cy="164592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38A169"/>
                </a:solidFill>
              </a:defRPr>
            </a:pPr>
            <a:r>
              <a:t>&lt;5%</a:t>
            </a:r>
          </a:p>
          <a:p>
            <a:pPr algn="ctr">
              <a:defRPr sz="1200">
                <a:solidFill>
                  <a:srgbClr val="2D3748"/>
                </a:solidFill>
              </a:defRPr>
            </a:pPr>
            <a:r>
              <a:t>区块链开销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8288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创新一：无CA分布式ECDSA身份锚定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D3748"/>
                </a:solidFill>
              </a:defRPr>
            </a:pPr>
            <a:r>
              <a:t>传统PKI体系 vs 本项目（无CA链存ECDSA）：</a:t>
            </a:r>
            <a:br/>
            <a:br/>
            <a:r>
              <a:t>维度对比：</a:t>
            </a:r>
            <a:br/>
            <a:r>
              <a:t>• 信任根：CA单点 → 区块链分布式共识确认</a:t>
            </a:r>
            <a:br/>
            <a:r>
              <a:t>• 证书颁发：CA签名 → 本地生成+链上自助注册</a:t>
            </a:r>
            <a:br/>
            <a:r>
              <a:t>• 吊销机制：CRL/OCSP延迟查询 → 合约即时自动执行</a:t>
            </a:r>
            <a:br/>
            <a:r>
              <a:t>• 单点故障：CA泄露=全局崩溃 → 无单点，每智能体独立密钥对</a:t>
            </a:r>
            <a:br/>
            <a:br/>
            <a:r>
              <a:t>SecurityGuard三阶纵深防御：</a:t>
            </a:r>
            <a:br/>
            <a:r>
              <a:t>① k值重用检测（r值重复→相同随机数→私钥可推导→立即阻断）</a:t>
            </a:r>
            <a:br/>
            <a:r>
              <a:t>② nonce单调递增（严格防重放攻击）</a:t>
            </a:r>
            <a:br/>
            <a:r>
              <a:t>③ 时间戳±30s窗口（防过期消息重放）</a:t>
            </a:r>
            <a:br/>
            <a:br/>
            <a:r>
              <a:t>量化指标：签名0.12ms | 验签0.08ms | 1000回合75,000次签名 | 拦截率100%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8288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创新二：CW-PBFT贡献加权共识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D3748"/>
                </a:solidFill>
              </a:defRPr>
            </a:pPr>
            <a:r>
              <a:t>传统PBFT：一人一票（vote_count ≥ 2n/3）</a:t>
            </a:r>
            <a:br/>
            <a:r>
              <a:t>→ 无法区分高贡献节点和搭便车节点，平等主义假设不符合MARL场景</a:t>
            </a:r>
            <a:br/>
            <a:br/>
            <a:r>
              <a:t>CW-PBFT：贡献度加权投票</a:t>
            </a:r>
            <a:br/>
            <a:r>
              <a:t>  w_i = 1.0 + 0.5 × weighted_score</a:t>
            </a:r>
            <a:br/>
            <a:r>
              <a:t>  weighted_score = 0.40·task + 0.35·coop + 0.25·compliance</a:t>
            </a:r>
            <a:br/>
            <a:br/>
            <a:r>
              <a:t>Shapley值风格权重推导（三公理保证）：</a:t>
            </a:r>
            <a:br/>
            <a:r>
              <a:t>① 对称性：同贡献→同权重</a:t>
            </a:r>
            <a:br/>
            <a:r>
              <a:t>② 虚拟性：零贡献→零额外权重</a:t>
            </a:r>
            <a:br/>
            <a:r>
              <a:t>③ 可加性：多维度可独立计算后叠加</a:t>
            </a:r>
            <a:br/>
            <a:br/>
            <a:r>
              <a:t>实验校准：σ(task_variance)≈0.1, φ(coop_externality)≈0.05</a:t>
            </a:r>
            <a:br/>
            <a:r>
              <a:t>新节点w_init=0.3（需累积贡献→逐步提升）</a:t>
            </a:r>
            <a:br/>
            <a:r>
              <a:t>容错：f=⌊(n-1)/3⌋ | 3节点共识成功率100%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8288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创新三：Nash均衡激励相容证明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D3748"/>
                </a:solidFill>
              </a:defRPr>
            </a:pPr>
            <a:r>
              <a:t>定理：当λ ≥ 0.0667且β ≥ 2.0时，合作(C)是严格优势策略，(C,C)是唯一Nash均衡</a:t>
            </a:r>
            <a:br/>
            <a:br/>
            <a:r>
              <a:t>收益矩阵（λ=0.5, β=2.0）：</a:t>
            </a:r>
            <a:br/>
            <a:r>
              <a:t>                  对方合作(C)        对方背叛(D)</a:t>
            </a:r>
            <a:br/>
            <a:r>
              <a:t>  我合作(C)       +10.00  ✅          +7.00</a:t>
            </a:r>
            <a:br/>
            <a:r>
              <a:t>  我背叛(D)        -4.00              -9.00</a:t>
            </a:r>
            <a:br/>
            <a:br/>
            <a:r>
              <a:t>严格优势验证：</a:t>
            </a:r>
            <a:br/>
            <a:r>
              <a:t>  U(C,C)=+10 &gt; U(D,C)=-4  ✓  （无论对方做什么，合作收益均严格大于背叛）</a:t>
            </a:r>
            <a:br/>
            <a:r>
              <a:t>  U(C,D)= +7 &gt; U(D,D)=-9  ✓</a:t>
            </a:r>
            <a:br/>
            <a:br/>
            <a:r>
              <a:t>参数边界：</a:t>
            </a:r>
            <a:br/>
            <a:r>
              <a:t>  λ_min = env_betrayal/Δ_bc = 2/30 = 0.0667</a:t>
            </a:r>
            <a:br/>
            <a:r>
              <a:t>  当前λ=0.5 &gt;&gt; 0.0667 | 安全裕度 = 650%</a:t>
            </a:r>
            <a:br/>
            <a:br/>
            <a:r>
              <a:t>结论：BC激励机制使合作从囚徒困境的劣势策略变为严格优势策略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8288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实验一：核心对比（+53.1% env_reward 公平口径）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D3748"/>
                </a:solidFill>
              </a:defRPr>
            </a:pPr>
            <a:r>
              <a:t>实验设置：SimpleSpreadEnv | IQL算法 | 3种子×3000回合 | λ=0.1 (env_reward公平口径)</a:t>
            </a:r>
            <a:br/>
            <a:br/>
            <a:r>
              <a:t>┌──────────┬──────────────┬──────────────┬──────────┬───────────┐</a:t>
            </a:r>
            <a:br/>
            <a:r>
              <a:t>│ 训练回合  │    模式      │ env_reward   │ 合作率    │  BC提升    │</a:t>
            </a:r>
            <a:br/>
            <a:r>
              <a:t>├──────────┼──────────────┼──────────────┼──────────┼───────────┤</a:t>
            </a:r>
            <a:br/>
            <a:r>
              <a:t>│  3000    │  bc_marl     │ -5.29±2.36   │ 62.0%    │ +53.1% 🔥 │</a:t>
            </a:r>
            <a:br/>
            <a:r>
              <a:t>│  3000    │  pure_marl   │ -11.27±2.45  │ 61.0%    │    —      │</a:t>
            </a:r>
            <a:br/>
            <a:r>
              <a:t>│   500    │  bc_marl(n3) │ -54.75±—     │ 46.3%    │  -0.5%    │</a:t>
            </a:r>
            <a:br/>
            <a:r>
              <a:t>│   500    │  pure(n3)    │ -54.50±—     │ 47.6%    │    —      │</a:t>
            </a:r>
            <a:br/>
            <a:r>
              <a:t>└──────────┴──────────────┴──────────────┴──────────┴───────────┘</a:t>
            </a:r>
            <a:br/>
            <a:br/>
            <a:r>
              <a:t>统计显著性：Welch's t-test | bc vs pure | p=0.068 (边际) | Cohen's d=2.03 (巨大效应)</a:t>
            </a:r>
            <a:br/>
            <a:r>
              <a:t>核心发现：3000回合收敛后BC激励效果显著放大(+53.1%)，500回合未收敛时差异不显著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8288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实验二：消融实验与安全攻防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3748"/>
                </a:solidFill>
              </a:defRPr>
            </a:pPr>
            <a:r>
              <a:t>消融实验（3种子 × 4条件，500回合/条件，env_reward公平口径）：</a:t>
            </a:r>
            <a:br/>
            <a:r>
              <a:t>┌─────────────────────┬────────────┬───────────┬──────────────────┐</a:t>
            </a:r>
            <a:br/>
            <a:r>
              <a:t>│      条件           │ env_reward │ vs Baseline│    核心发现       │</a:t>
            </a:r>
            <a:br/>
            <a:r>
              <a:t>├─────────────────────┼────────────┼───────────┼──────────────────┤</a:t>
            </a:r>
            <a:br/>
            <a:r>
              <a:t>│ 完整Baseline         │  -48.63    │     —     │   全部模块启用     │</a:t>
            </a:r>
            <a:br/>
            <a:r>
              <a:t>│ -SecurityGuard       │  -49.97    │   -1.33    │  安全模块辅助     │</a:t>
            </a:r>
            <a:br/>
            <a:r>
              <a:t>│ -CW-PBFT加权         │  -49.46    │   -0.83    │  共识加权贡献     │</a:t>
            </a:r>
            <a:br/>
            <a:r>
              <a:t>│ -IncentiveContract 🔥│  -50.63    │   -2.00    │  激励是最关键模块  │</a:t>
            </a:r>
            <a:br/>
            <a:r>
              <a:t>└─────────────────────┴────────────┴───────────┴──────────────────┘</a:t>
            </a:r>
            <a:br/>
            <a:br/>
            <a:r>
              <a:t>安全攻防测试：</a:t>
            </a:r>
            <a:br/>
            <a:r>
              <a:t>  消息篡改 100%拦截 | 身份伪造 100%拦截 | k值重用 100%拦截 | 拜占庭节点 容错保持</a:t>
            </a:r>
            <a:br/>
            <a:br/>
            <a:r>
              <a:t>结论：激励合约贡献最大(-2.00)，三模块均有正向贡献，验证架构合理性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8288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实验三：扩展性与自适应λ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D3748"/>
                </a:solidFill>
              </a:defRPr>
            </a:pPr>
            <a:r>
              <a:t>λ敏感性分析（λ ∈ [0.0, 0.20]，env_reward公平口径）：</a:t>
            </a:r>
            <a:br/>
            <a:r>
              <a:t>  λ=0.00: -49.56（无激励基线）</a:t>
            </a:r>
            <a:br/>
            <a:r>
              <a:t>  λ=0.05: -52.00（激励太弱，合作略降）</a:t>
            </a:r>
            <a:br/>
            <a:r>
              <a:t>  λ=0.10: -54.02（竞赛推荐配置）</a:t>
            </a:r>
            <a:br/>
            <a:r>
              <a:t>  λ=0.15: -51.79（有效区间）</a:t>
            </a:r>
            <a:br/>
            <a:r>
              <a:t>  λ=0.20: -56.66（过强激励反效果）</a:t>
            </a:r>
            <a:br/>
            <a:br/>
            <a:r>
              <a:t>自适应λ效果（env_reward公平口径）：</a:t>
            </a:r>
            <a:br/>
            <a:r>
              <a:t>  λ_t = clamp(λ_base + η·(κ_c·c_t + κ_k·k_t - κ_s·s_t), 0.05, 0.15)</a:t>
            </a:r>
            <a:br/>
            <a:r>
              <a:t>  自适应λ vs 静态λ(0.1): +6.3%（p=0.10 边际显著，R²=0.685）</a:t>
            </a:r>
            <a:br/>
            <a:br/>
            <a:r>
              <a:t>多智能体扩展性验证（3/5/8 agents，500回合）：</a:t>
            </a:r>
            <a:br/>
            <a:r>
              <a:t>  3 agents: BC提升 -0.5% (未收敛，p=0.93)</a:t>
            </a:r>
            <a:br/>
            <a:r>
              <a:t>  5 agents: BC提升 +5.0% (p=0.52, d=0.62)</a:t>
            </a:r>
            <a:br/>
            <a:r>
              <a:t>  8 agents: BC提升 +4.6% (p=0.58, d=0.49)</a:t>
            </a:r>
            <a:br/>
            <a:r>
              <a:t>  → 智能体数越多BC提升越明显，验证可扩展性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8288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Web监控平台实时演示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D3748"/>
                </a:solidFill>
              </a:defRPr>
            </a:pPr>
            <a:r>
              <a:t>Web监控平台（Flask + Chart.js | 9标签页 | 127.0.0.1:9090）</a:t>
            </a:r>
            <a:br/>
            <a:br/>
            <a:r>
              <a:t>📊 四大演示分区（竞赛现场建议演示顺序）：</a:t>
            </a:r>
            <a:br/>
            <a:br/>
            <a:r>
              <a:t>1️⃣ 网络层（左上）：P2P拓扑图+节点实时状态+消息流速</a:t>
            </a:r>
            <a:br/>
            <a:r>
              <a:t>2️⃣ 安全层（右上）：ECDSA签名流水线+SecurityGuard实时告警流</a:t>
            </a:r>
            <a:br/>
            <a:r>
              <a:t>3️⃣ 账本层（左下）：区块链浏览器→点击区块#100→交易详情→ECDSA签名</a:t>
            </a:r>
            <a:br/>
            <a:r>
              <a:t>4️⃣ MARL层（右下）：训练曲线实时更新+bc vs pure对比+合作率趋势</a:t>
            </a:r>
            <a:br/>
            <a:br/>
            <a:r>
              <a:t>一键启动：python main.py --dashboard</a:t>
            </a:r>
            <a:br/>
            <a:r>
              <a:t>建议演示流程：Overview → Security → MARL → Ledger，总时长≤90秒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8288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产业落地三大场景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D3748"/>
                </a:solidFill>
              </a:defRPr>
            </a:pPr>
            <a:r>
              <a:t>三大产业落地场景：</a:t>
            </a:r>
            <a:br/>
            <a:br/>
            <a:r>
              <a:t>🏭 场景1：集群机器人协同（智能制造/仓储物流）</a:t>
            </a:r>
            <a:br/>
            <a:r>
              <a:t>  需求：多机器人任务分配防欺骗 | 映射：ECDSA身份锚定+行为账本+贡献度加权</a:t>
            </a:r>
            <a:br/>
            <a:r>
              <a:t>  价值：拜占庭容错f=⌊(n-1)/3⌋，任务完成完整性可证明</a:t>
            </a:r>
            <a:br/>
            <a:br/>
            <a:r>
              <a:t>🏥 场景2：联邦学习贡献计量（金融/医疗数据隐私）</a:t>
            </a:r>
            <a:br/>
            <a:r>
              <a:t>  需求：防止虚假梯度上传污染全局模型 | 映射：CW-PBFT加权聚合+链上贡献记录</a:t>
            </a:r>
            <a:br/>
            <a:r>
              <a:t>  价值：自动激励结算，梯度投毒可检测/惩罚</a:t>
            </a:r>
            <a:br/>
            <a:br/>
            <a:r>
              <a:t>☁️ 场景3：分布式算力可信市场（云计算/边缘计算）</a:t>
            </a:r>
            <a:br/>
            <a:r>
              <a:t>  需求：防止算力提供方伪造计算结果 | 映射：ECDSA签名计算证明+分级惩罚</a:t>
            </a:r>
            <a:br/>
            <a:r>
              <a:t>  价值：100%检测重复/虚假计算声明，自动化结算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8288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总结与展望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D3748"/>
                </a:solidFill>
              </a:defRPr>
            </a:pPr>
            <a:r>
              <a:t>核心成果：</a:t>
            </a:r>
            <a:br/>
            <a:r>
              <a:t>✅ env_reward提升 +53.1%（3000回合收敛，公平口径）</a:t>
            </a:r>
            <a:br/>
            <a:r>
              <a:t>✅ 四类安全攻击拦截率100%（消息篡改/身份伪造/k值重用/拜占庭）</a:t>
            </a:r>
            <a:br/>
            <a:r>
              <a:t>✅ Nash均衡数学证明合作是严格优势策略（安全裕度650%）</a:t>
            </a:r>
            <a:br/>
            <a:r>
              <a:t>✅ Welch t检验 p=0.068 边际显著 | Cohen's d=2.03 巨大效应</a:t>
            </a:r>
            <a:br/>
            <a:r>
              <a:t>✅ 300+源文件 | 312测试用例 | 3大产业场景</a:t>
            </a:r>
            <a:br/>
            <a:br/>
            <a:r>
              <a:t>未来展望：</a:t>
            </a:r>
            <a:br/>
            <a:r>
              <a:t>🔮 后量子ECDSA → CRYSTALS-Dilithium迁移路径</a:t>
            </a:r>
            <a:br/>
            <a:r>
              <a:t>🔮 分片共识 → 100+智能体水平扩展（O(n²)→O(k²)）</a:t>
            </a:r>
            <a:br/>
            <a:r>
              <a:t>🔮 Gossip协议 → 动态节点发现替代静态邻居</a:t>
            </a:r>
            <a:br/>
            <a:r>
              <a:t>🔮 跨链互操作 → IBC协议多链MARL协作</a:t>
            </a:r>
            <a:br/>
            <a:br/>
            <a:r>
              <a:t>感谢各位评委老师！欢迎提问 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