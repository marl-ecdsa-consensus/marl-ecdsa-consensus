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FF"/>
                </a:solidFill>
              </a:defRPr>
            </a:pPr>
            <a:r>
              <a:t>面向协作MARL的</a:t>
            </a:r>
            <a:br/>
            <a:r>
              <a:t>可信共识与激励机制</a:t>
            </a:r>
          </a:p>
          <a:p>
            <a:pPr algn="ctr">
              <a:defRPr sz="2000">
                <a:solidFill>
                  <a:srgbClr val="00FF88"/>
                </a:solidFill>
              </a:defRPr>
            </a:pPr>
            <a:r>
              <a:t>区块链 + 多智能体强化学习 双向协同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0A0B0"/>
                </a:solidFill>
              </a:defRPr>
            </a:pPr>
            <a:r>
              <a:t>CCF 第五届中国区块链竞赛</a:t>
            </a:r>
          </a:p>
          <a:p>
            <a:pPr algn="ctr">
              <a:defRPr sz="1600">
                <a:solidFill>
                  <a:srgbClr val="A0A0B0"/>
                </a:solidFill>
              </a:defRPr>
            </a:pPr>
            <a:r>
              <a:t>参赛队伍</a:t>
            </a:r>
          </a:p>
          <a:p>
            <a:pPr algn="ctr">
              <a:defRPr sz="1600">
                <a:solidFill>
                  <a:srgbClr val="A0A0B0"/>
                </a:solidFill>
              </a:defRPr>
            </a:pPr>
            <a:r>
              <a:t>2026年6月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0B0"/>
                </a:solidFill>
              </a:defRPr>
            </a:pPr>
            <a:r>
              <a:t>CCF第五届区块链竞赛 · MARL-ECDSA共识链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问题背景与动机</a:t>
            </a:r>
          </a:p>
          <a:p>
            <a:pPr algn="ctr">
              <a:defRPr sz="1400">
                <a:solidFill>
                  <a:srgbClr val="A0A0B0"/>
                </a:solidFill>
              </a:defRPr>
            </a:pPr>
            <a:r>
              <a:t>多智能体协作中的信任困境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4466"/>
                </a:solidFill>
              </a:defRPr>
            </a:pPr>
            <a:r>
              <a:t>传统MARL的局限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智能体可能采取自私策略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缺乏信任验证机制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无去中心化激励保障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恶意行为难以追溯惩罚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371600"/>
            <a:ext cx="384048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区块链的天然优势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去中心化信任建立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ECDSA签名不可伪造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智能合约自动执行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• PBFT共识最终一致性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8229600" cy="2103120"/>
          </a:xfrm>
          <a:prstGeom prst="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D700"/>
                </a:solidFill>
              </a:defRPr>
            </a:pPr>
            <a:r>
              <a:t>核心问题：如何将区块链的信任机制与MARL的协作学习深度融合？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挑战1：密码学开销 vs 实时决策的平衡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挑战2：共识延迟 vs 强化学习收敛速度的协调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挑战3：激励机制设计需保证 E[合作收益] &gt; E[背叛收益]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0B0"/>
                </a:solidFill>
              </a:defRPr>
            </a:pPr>
            <a:r>
              <a:t>CCF第五届区块链竞赛 · MARL-ECDSA共识链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系统架构设计</a:t>
            </a:r>
          </a:p>
          <a:p>
            <a:pPr algn="ctr">
              <a:defRPr sz="1400">
                <a:solidFill>
                  <a:srgbClr val="A0A0B0"/>
                </a:solidFill>
              </a:defRPr>
            </a:pPr>
            <a:r>
              <a:t>四层协同架构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MARL决策层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IQL独立学习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SimpleSpread环境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局部奖励信用分配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606040"/>
            <a:ext cx="8229600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FF88"/>
                </a:solidFill>
              </a:defRPr>
            </a:pPr>
            <a:r>
              <a:t>区块链激励层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ECDSA签名+SecurityGuard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激励/惩罚智能合约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贡献度量化(40%/35%/25%)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D700"/>
                </a:solidFill>
              </a:defRPr>
            </a:pPr>
            <a:r>
              <a:t>共识协议层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CW-PBFT三阶段共识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信任增强投票权重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快速确认路径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074920"/>
            <a:ext cx="8229600" cy="1097280"/>
          </a:xfrm>
          <a:prstGeom prst="rect">
            <a:avLst/>
          </a:prstGeom>
          <a:solidFill>
            <a:srgbClr val="16213E"/>
          </a:solidFill>
          <a:ln w="19050"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4466"/>
                </a:solidFill>
              </a:defRPr>
            </a:pPr>
            <a:r>
              <a:t>P2P网络层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TCP点对点通信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单向连接拓扑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消息缓存防重放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0B0"/>
                </a:solidFill>
              </a:defRPr>
            </a:pPr>
            <a:r>
              <a:t>CCF第五届区块链竞赛 · MARL-ECDSA共识链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核心算法：IQL + 区块链激励融合</a:t>
            </a:r>
          </a:p>
          <a:p>
            <a:pPr algn="ctr">
              <a:defRPr sz="1400">
                <a:solidFill>
                  <a:srgbClr val="A0A0B0"/>
                </a:solidFill>
              </a:defRPr>
            </a:pPr>
            <a:r>
              <a:t>双向协同闭环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41148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MARL算法（IQL）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算法：独立Q学习（IQL）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网络：MLP hidden=128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优化器：Adam lr=1e-3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γ=0.8, batch=64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ε: 1.0→0.05, decay=5000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Replay Buffer: 2500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Target: 软更新 τ=0.01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奖励融合：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total = env_reward + λ * bc_score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λ=0.5（竞赛推荐）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371600"/>
            <a:ext cx="3840480" cy="41148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FF88"/>
                </a:solidFill>
              </a:defRPr>
            </a:pPr>
            <a:r>
              <a:t>区块链闭环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1. ECDSA签名每步动作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2. SecurityGuard校验安全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3. Transaction每10步上链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4. 回合结束Block打包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5. CW-PBFT共识确认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6. 激励合约结算贡献度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7. 权重更新→影响共识投票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8. bc_score反馈→MARL奖励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形成正向激励循环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0B0"/>
                </a:solidFill>
              </a:defRPr>
            </a:pPr>
            <a:r>
              <a:t>CCF第五届区块链竞赛 · MARL-ECDSA共识链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ECDSA密码学安全体系</a:t>
            </a:r>
          </a:p>
          <a:p>
            <a:pPr algn="ctr">
              <a:defRPr sz="1400">
                <a:solidFill>
                  <a:srgbClr val="A0A0B0"/>
                </a:solidFill>
              </a:defRPr>
            </a:pPr>
            <a:r>
              <a:t>每步签名 + 安全防护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签名流程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曲线：secp256k1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签名：private_key.sign(hash)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验签：public_key.verify(sig, hash)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Nonce严格递增（防重放）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371600"/>
            <a:ext cx="384048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4466"/>
                </a:solidFill>
              </a:defRPr>
            </a:pPr>
            <a:r>
              <a:t>SecurityGuard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时间戳校验（±60s窗口）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Nonce防重放检测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K值重用检测（相同r拦截）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告警计数+自动拦截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931920"/>
            <a:ext cx="228600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FF88"/>
                </a:solidFill>
              </a:defRPr>
            </a:pPr>
            <a:r>
              <a:t>75,000</a:t>
            </a:r>
          </a:p>
          <a:p>
            <a:pPr algn="ctr">
              <a:defRPr sz="1200">
                <a:solidFill>
                  <a:srgbClr val="A0A0B0"/>
                </a:solidFill>
              </a:defRPr>
            </a:pPr>
            <a:r>
              <a:t>ECDSA签名次数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3931920"/>
            <a:ext cx="228600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FF88"/>
                </a:solidFill>
              </a:defRPr>
            </a:pPr>
            <a:r>
              <a:t>100%</a:t>
            </a:r>
          </a:p>
          <a:p>
            <a:pPr algn="ctr">
              <a:defRPr sz="1200">
                <a:solidFill>
                  <a:srgbClr val="A0A0B0"/>
                </a:solidFill>
              </a:defRPr>
            </a:pPr>
            <a:r>
              <a:t>验签通过率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3931920"/>
            <a:ext cx="228600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FF88"/>
                </a:solidFill>
              </a:defRPr>
            </a:pPr>
            <a:r>
              <a:t>0</a:t>
            </a:r>
          </a:p>
          <a:p>
            <a:pPr algn="ctr">
              <a:defRPr sz="1200">
                <a:solidFill>
                  <a:srgbClr val="A0A0B0"/>
                </a:solidFill>
              </a:defRPr>
            </a:pPr>
            <a:r>
              <a:t>安全违规事件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0B0"/>
                </a:solidFill>
              </a:defRPr>
            </a:pPr>
            <a:r>
              <a:t>CCF第五届区块链竞赛 · MARL-ECDSA共识链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CW-PBFT 信任增强共识</a:t>
            </a:r>
          </a:p>
          <a:p>
            <a:pPr algn="ctr">
              <a:defRPr sz="1400">
                <a:solidFill>
                  <a:srgbClr val="A0A0B0"/>
                </a:solidFill>
              </a:defRPr>
            </a:pPr>
            <a:r>
              <a:t>Credit-Weighted PBFT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69748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PRE-PREPARE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主节点广播区块提案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包含世界状态根哈希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7560" y="1371600"/>
            <a:ext cx="269748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FF88"/>
                </a:solidFill>
              </a:defRPr>
            </a:pPr>
            <a:r>
              <a:t>PREPARE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副本节点验证提案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广播PREPARE投票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权重加权计票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71600"/>
            <a:ext cx="2697480" cy="2286000"/>
          </a:xfrm>
          <a:prstGeom prst="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D700"/>
                </a:solidFill>
              </a:defRPr>
            </a:pPr>
            <a:r>
              <a:t>COMMIT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达到2/3权重阈值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进入COMMIT阶段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广播COMMIT投票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8229600" cy="2103120"/>
          </a:xfrm>
          <a:prstGeom prst="rect">
            <a:avLst/>
          </a:prstGeom>
          <a:solidFill>
            <a:srgbClr val="16213E"/>
          </a:solidFill>
          <a:ln w="19050"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4466"/>
                </a:solidFill>
              </a:defRPr>
            </a:pPr>
            <a:r>
              <a:t>信任增强机制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投票权重 = 1.0 + 0.5 * weighted_score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共识阈值 = 2/3 * Σ(weights)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背叛者权重降低→共识影响力下降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0B0"/>
                </a:solidFill>
              </a:defRPr>
            </a:pPr>
            <a:r>
              <a:t>CCF第五届区块链竞赛 · MARL-ECDSA共识链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实验结果</a:t>
            </a:r>
          </a:p>
          <a:p>
            <a:pPr algn="ctr">
              <a:defRPr sz="1400">
                <a:solidFill>
                  <a:srgbClr val="A0A0B0"/>
                </a:solidFill>
              </a:defRPr>
            </a:pPr>
            <a:r>
              <a:t>total_reward口径 (λ=0.5, 5 agents, 200回合)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560320" cy="1645920"/>
          </a:xfrm>
          <a:prstGeom prst="rect">
            <a:avLst/>
          </a:prstGeom>
          <a:solidFill>
            <a:srgbClr val="16213E"/>
          </a:solidFill>
          <a:ln w="25400"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4466"/>
                </a:solidFill>
              </a:defRPr>
            </a:pPr>
            <a:r>
              <a:t>-53.6</a:t>
            </a:r>
          </a:p>
          <a:p>
            <a:pPr algn="ctr">
              <a:defRPr sz="1200">
                <a:solidFill>
                  <a:srgbClr val="A0A0B0"/>
                </a:solidFill>
              </a:defRPr>
            </a:pPr>
            <a:r>
              <a:t>Pure MARL total_reward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371600"/>
            <a:ext cx="2560320" cy="16459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FF88"/>
                </a:solidFill>
              </a:defRPr>
            </a:pPr>
            <a:r>
              <a:t>-31.0</a:t>
            </a:r>
          </a:p>
          <a:p>
            <a:pPr algn="ctr">
              <a:defRPr sz="1200">
                <a:solidFill>
                  <a:srgbClr val="A0A0B0"/>
                </a:solidFill>
              </a:defRPr>
            </a:pPr>
            <a:r>
              <a:t>BC-MARL total_reward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371600"/>
            <a:ext cx="2560320" cy="1645920"/>
          </a:xfrm>
          <a:prstGeom prst="rect">
            <a:avLst/>
          </a:prstGeom>
          <a:solidFill>
            <a:srgbClr val="16213E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+42%</a:t>
            </a:r>
          </a:p>
          <a:p>
            <a:pPr algn="ctr">
              <a:defRPr sz="1200">
                <a:solidFill>
                  <a:srgbClr val="A0A0B0"/>
                </a:solidFill>
              </a:defRPr>
            </a:pPr>
            <a:r>
              <a:t>BC提升幅度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91840"/>
            <a:ext cx="8229600" cy="256032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区块链流水线统计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ECDSA签名: 75,000次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区块高度: 200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CW-PBFT共识: 200轮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SecurityGuard通过: 75,000次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合作率: 62.6%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λ参数: 0.5 (竞赛推荐)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0B0"/>
                </a:solidFill>
              </a:defRPr>
            </a:pPr>
            <a:r>
              <a:t>CCF第五届区块链竞赛 · MARL-ECDSA共识链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三模式对比分析</a:t>
            </a:r>
          </a:p>
          <a:p>
            <a:pPr algn="ctr">
              <a:defRPr sz="1400">
                <a:solidFill>
                  <a:srgbClr val="A0A0B0"/>
                </a:solidFill>
              </a:defRPr>
            </a:pPr>
            <a:r>
              <a:t>Pure MARL / BC-MARL / Selfish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560320" cy="2743200"/>
          </a:xfrm>
          <a:prstGeom prst="rect">
            <a:avLst/>
          </a:prstGeom>
          <a:solidFill>
            <a:srgbClr val="16213E"/>
          </a:solidFill>
          <a:ln w="19050"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4466"/>
                </a:solidFill>
              </a:defRPr>
            </a:pPr>
            <a:r>
              <a:t>Pure MARL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均奖励: -53.6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无区块链激励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纯环境奖励驱动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合作率较低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无安全机制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371600"/>
            <a:ext cx="2560320" cy="27432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FF88"/>
                </a:solidFill>
              </a:defRPr>
            </a:pPr>
            <a:r>
              <a:t>BC-MARL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均奖励: -48.5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区块链激励融合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ECDSA+CW-PBFT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合作率显著提升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完整安全防护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371600"/>
            <a:ext cx="2560320" cy="2743200"/>
          </a:xfrm>
          <a:prstGeom prst="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D700"/>
                </a:solidFill>
              </a:defRPr>
            </a:pPr>
            <a:r>
              <a:t>Selfish模式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均奖励: -65.9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含30%自私智能体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测试抗背叛能力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区块链惩罚生效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验证激励机制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结论：BC-MARL在奖励和合作率上均优于Pure MARL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区块链激励使智能体从'个体最优'转向'协作最优'，形成纳什均衡偏移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0B0"/>
                </a:solidFill>
              </a:defRPr>
            </a:pPr>
            <a:r>
              <a:t>CCF第五届区块链竞赛 · MARL-ECDSA共识链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创新与技术亮点</a:t>
            </a:r>
          </a:p>
          <a:p>
            <a:pPr algn="ctr">
              <a:defRPr sz="1400">
                <a:solidFill>
                  <a:srgbClr val="A0A0B0"/>
                </a:solidFill>
              </a:defRPr>
            </a:pPr>
            <a:r>
              <a:t>5大核心创新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  1. 双向协同闭环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MARL决策→区块链激励→MARL奖励反馈，首次实现双向闭环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solidFill>
            <a:srgbClr val="16213E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FF88"/>
                </a:solidFill>
              </a:defRPr>
            </a:pPr>
            <a:r>
              <a:t>  2. CW-PBFT共识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Credit-Weighted PBFT，贡献度加权投票，背叛者自然淘汰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16213E"/>
          </a:solidFill>
          <a:ln w="19050">
            <a:solidFill>
              <a:srgbClr val="FF44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4466"/>
                </a:solidFill>
              </a:defRPr>
            </a:pPr>
            <a:r>
              <a:t>  3. SecurityGuard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实时K值重用检测+Nonce防重放，阻止ECDSA签名攻击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4251960"/>
            <a:ext cx="8229600" cy="822960"/>
          </a:xfrm>
          <a:prstGeom prst="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D700"/>
                </a:solidFill>
              </a:defRPr>
            </a:pPr>
            <a:r>
              <a:t>  4. 多维度贡献度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任务(40%)+协作(35%)+合规(25%)三维度量化，数学保证合作&gt;背叛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212080"/>
            <a:ext cx="8229600" cy="82296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  5. 纯NumPy实现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零外部依赖环境，ECDSA+PBFT全自研，代码完全可控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0B0"/>
                </a:solidFill>
              </a:defRPr>
            </a:pPr>
            <a:r>
              <a:t>CCF第五届区块链竞赛 · MARL-ECDSA共识链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系统演示</a:t>
            </a:r>
          </a:p>
          <a:p>
            <a:pPr algn="ctr">
              <a:defRPr sz="1400">
                <a:solidFill>
                  <a:srgbClr val="A0A0B0"/>
                </a:solidFill>
              </a:defRPr>
            </a:pPr>
            <a:r>
              <a:t>可视化平台 + P2P网络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36576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可视化平台 v3.7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7个功能标签页：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  • 总览仪表盘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  • 训练监控（实时曲线）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  • 对比分析（三模式）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  • 区块链流水线动画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  • P2P网络拓扑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  • 系统状态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Chart.js 实时图表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371600"/>
            <a:ext cx="3840480" cy="36576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FF88"/>
                </a:solidFill>
              </a:defRPr>
            </a:pPr>
            <a:r>
              <a:t>P2P网络共识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3节点/4节点实测通过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100%共识成功率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TCP点对点通信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单向连接拓扑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消息缓存防重放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跨轮污染防护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演示场景：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  1. 正常共识流程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  2. 节点动态加入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  3. 拜占庭节点容错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0B0"/>
                </a:solidFill>
              </a:defRPr>
            </a:pPr>
            <a:r>
              <a:t>CCF第五届区块链竞赛 · MARL-ECDSA共识链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测试与验证</a:t>
            </a:r>
          </a:p>
          <a:p>
            <a:pPr algn="ctr">
              <a:defRPr sz="1400">
                <a:solidFill>
                  <a:srgbClr val="A0A0B0"/>
                </a:solidFill>
              </a:defRPr>
            </a:pPr>
            <a:r>
              <a:t>312个单元测试 + 6类测试场景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FF88"/>
                </a:solidFill>
              </a:defRPr>
            </a:pPr>
            <a:r>
              <a:t>312</a:t>
            </a:r>
          </a:p>
          <a:p>
            <a:pPr algn="ctr">
              <a:defRPr sz="1200">
                <a:solidFill>
                  <a:srgbClr val="A0A0B0"/>
                </a:solidFill>
              </a:defRPr>
            </a:pPr>
            <a:r>
              <a:t>单元测试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FF88"/>
                </a:solidFill>
              </a:defRPr>
            </a:pPr>
            <a:r>
              <a:t>100%</a:t>
            </a:r>
          </a:p>
          <a:p>
            <a:pPr algn="ctr">
              <a:defRPr sz="1200">
                <a:solidFill>
                  <a:srgbClr val="A0A0B0"/>
                </a:solidFill>
              </a:defRPr>
            </a:pPr>
            <a:r>
              <a:t>通过率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371600"/>
            <a:ext cx="2560320" cy="1371600"/>
          </a:xfrm>
          <a:prstGeom prst="rect">
            <a:avLst/>
          </a:prstGeom>
          <a:solidFill>
            <a:srgbClr val="16213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6</a:t>
            </a:r>
          </a:p>
          <a:p>
            <a:pPr algn="ctr">
              <a:defRPr sz="1200">
                <a:solidFill>
                  <a:srgbClr val="A0A0B0"/>
                </a:solidFill>
              </a:defRPr>
            </a:pPr>
            <a:r>
              <a:t>测试场景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017520"/>
            <a:ext cx="8229600" cy="2743200"/>
          </a:xfrm>
          <a:prstGeom prst="rect">
            <a:avLst/>
          </a:prstGeom>
          <a:solidFill>
            <a:srgbClr val="16213E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FFD700"/>
                </a:solidFill>
              </a:defRPr>
            </a:pPr>
            <a:r>
              <a:t>测试覆盖范围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S1 基线对比：Pure MARL vs BC-MARL（1000/3000回合）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S2 自私鲁棒性：30%自私智能体下区块链激励效果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S3 区块链安全：ECDSA签名验签 + SecurityGuard防护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S4 共识稳定性：CW-PBFT多轮共识 100%成功率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S5 λ参数敏感性：λ=0.1 vs 0.05 vs 0.3对比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S6 收敛性分析：3000回合训练收敛曲线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测试模块：ECDSA / SecurityGuard / Block / Blockchain / WorldState / CW-PBFT / IncentiveContract / SimpleSpreadEnv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0B0"/>
                </a:solidFill>
              </a:defRPr>
            </a:pPr>
            <a:r>
              <a:t>CCF第五届区块链竞赛 · MARL-ECDSA共识链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</a:defRPr>
            </a:pPr>
            <a:r>
              <a:t>总结与展望</a:t>
            </a:r>
          </a:p>
          <a:p>
            <a:pPr algn="ctr">
              <a:defRPr sz="1400">
                <a:solidFill>
                  <a:srgbClr val="A0A0B0"/>
                </a:solidFill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840480" cy="32004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FF88"/>
                </a:solidFill>
              </a:defRPr>
            </a:pPr>
            <a:r>
              <a:t>项目成果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BC-MARL提升 +42% total_reward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338个单元测试 100%通过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ECDSA 75,000次签名零失败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CW-PBFT 100%共识成功率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Nash均衡理论证明(λ≥0.0667)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攻击防御 3/3 100%拦截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371600"/>
            <a:ext cx="3840480" cy="3200400"/>
          </a:xfrm>
          <a:prstGeom prst="rect">
            <a:avLst/>
          </a:prstGeom>
          <a:solidFill>
            <a:srgbClr val="16213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未来展望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扩展到更多智能体（10+）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引入DPoS共识优化吞吐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零知识证明增强隐私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跨链互操作性研究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实际应用场景验证</a:t>
            </a:r>
          </a:p>
          <a:p>
            <a:pPr>
              <a:spcAft>
                <a:spcPts val="300"/>
              </a:spcAft>
              <a:defRPr sz="1200">
                <a:solidFill>
                  <a:srgbClr val="FFFFFF"/>
                </a:solidFill>
              </a:defRPr>
            </a:pPr>
            <a:r>
              <a:t>开源社区生态建设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D700"/>
                </a:solidFill>
              </a:defRPr>
            </a:pPr>
            <a:r>
              <a:t>感谢评委指导！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0A0B0"/>
                </a:solidFill>
              </a:defRPr>
            </a:pPr>
            <a:r>
              <a:t>CCF第五届区块链竞赛 · MARL-ECDSA共识链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