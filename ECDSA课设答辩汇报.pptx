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77"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“MARL-ECDSA共识链”，一个面向多智能体强化学习的区块链AI协同共识机制。本次汇报将重点阐述我们如何将ECDSA数字签名技术深度融合到区块链与AI协同的项目中，以解决多智能体协作中的信任与安全问题。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们将介绍项目的背景与我们试图解决的核心问题。其次，我们会深入剖析ECDSA的数学原理与安全性。接着，展示我们项目的整体架构设计。之后，会介绍核心模块的具体实现。第五部分将通过系统演示和实验数据来验证我们方案的有效性。最后，对项目进行总结并展望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来看项目背景。多智能体强化学习，也就是MARL，是当前人工智能领域的研究热点，它模拟了现实世界中多个个体如何协作完成复杂任务。然而，现有的MARL算法大多建立在一个理想假设之上，即所有智能体都是诚实可信的。但在真实的开放环境中，这个假设并不成立。我们总结了三大核心痛点：身份不可信、行为可篡改、以及激励无强制力。这些问题导致了协作的脆弱性，使得MARL的应用大打折扣。因此，我们认为，解决底层信任问题是推动MARL技术落地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上述痛点，我们明确了本项目需要解决的核心问题：如何为MARL构建一个可信的协作底座？这个问题具体可以分解为身份认证、数据完整性和行为可追溯这三个子问题。我们的解决方案是，将区块链技术与ECDSA数字签名相结合。区块链提供了一个不可篡改的分布式账本，而ECDSA则为身份认证和数据完整性提供了密码学保障。二者结合，恰好能从根本上解决我们提出的信任困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目标非常明确，就是要实现一个基于ECDSA的区块链AI协同共识机制。为了确保项目的可衡量性，我们设定了一系列量化指标。在安全方面，我们要求身份认证和篡改检测的准确率达到100%。在协作效果上，我们期望在存在自私节点的情况下，系统的全局奖励能有显著提升。同时，我们也对系统性能提出了要求，确保引入区块链和密码学操作不会对MARL的训练效率造成过大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深入探讨本次课设的核心——ECDSA的原理。ECDSA，即椭圆曲线数字签名算法，其安全性依赖于椭圆曲线离散对数问题的难解性。简单来说，我们在一个有限域上定义一条椭圆曲线，并在曲线上定义了点加法和点乘法。密钥生成过程非常直观：私钥是一个随机的大整数，而公钥则是通过将基点G与私钥相乘得到的点。由于离散对数问题的存在，从公钥反推出私钥在计算上是不可行的，这保证了密钥的安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数学基础后，我们来看ECDSA的签名和验证流程。签名过程由持有私钥的一方执行。首先，对消息进行哈希。然后，生成一个随机数k，并用它计算出一个椭圆曲线上的点。签名的第一部分r就是这个点的x坐标。接着，利用私钥、消息哈希和r计算出签名的第二部分s。这样，签名(r, s)就生成了。验证过程则由任何持有公钥的人执行。通过一系列计算，最终会得到一个新的椭圆曲线上的点。如果这个点的x坐标与签名中的r相等，就证明签名是有效的。整个过程巧妙地利用了椭圆曲线的数学性质，实现了身份认证和数据完整性验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CDSA虽然强大，但并非无懈可击。其中最致命的风险来自于随机数k的使用。如果同一个私钥在签名不同消息时，重复使用了同一个k值，那么攻击者就可以通过数学推导，轻易地计算出私钥。这在历史上已经发生过真实的安全事件，例如索尼公司曾因这个漏洞导致其PS3主机的私钥被破解。因此，保证k值的随机性和唯一性，是ECDSA安全实现的重中之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为了解决k值重用的风险，我们在项目中采用了RFC 6979标准。这个标准的核心思想是，不再依赖外部的随机数生成器，而是确定性地生成k值。具体来说，k值是通过一个伪随机函数，由私钥和消息哈希共同生成的。这样做的好处是，对于同一份消息和同一个私钥，生成的k值永远是唯一的，从而从根本上杜绝了k值重用的可能性。这是目前业界公认的最安全的ECDSA实现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架构设计上，我们采用了清晰的四层架构。最底层是分布式网络层，负责节点间的通信。其上是区块链核心层，这是我们系统的信任中枢，ECDSA安全认证模块就位于这一层。再往上是MARL协同层，负责智能体的决策和学习。最顶层是应用展示层，用于可视化监控。整个数据流转清晰高效：智能体的行为经过ECDSA签名后，通过网络传输到区块链层进行验证和记录，最终为上层的AI协作提供可信的数据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CDSA在我们的系统中扮演着至关重要的角色，我们称之为“信任基石”。具体来说，它有三大核心应用。首先是身份认证，确保每个加入网络的智能体都是真实可信的。其次是数据完整性，保证所有在网络中传输的消息都是完整且未被篡改的。最后是不可否认性，一旦某个智能体做出了某个行为并上链，它就无法在事后否认，为仲裁和追责提供了依据。这三点共同构建了我们系统的信任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核心业务流程图。整个流程始于智能体的初始化和注册，每个智能体都会生成自己的ECDSA密钥对并在链上注册身份。在每一轮交互中，智能体做出决策后，会立即用私钥签名并广播。共识节点收到消息后，首先会进行ECDSA验签，验证通过的消息才会被打包进区块。区块经过共识上链后，智能合约会自动执行激励结算。最后，MARL模块会根据链上的可信数据和激励结果来更新自己的策略，形成一个完整的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接下来是技术实现部分。我们使用Python的cryptography库实现了ECDSA工具类。这个库的优点是它原生支持RFC 6979标准，我们只需要在签名时指定使用SHA256哈希算法，它就会自动采用确定性的方式生成k值。代码非常简洁，核心就是sign和verify两个方法。sign方法接收消息，使用私钥生成签名；verify方法接收消息、签名和公钥，返回验证结果。我们还封装了公钥和私钥的序列化方法，方便在网络中传输和存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将身份信息和公钥绑定并存储在链上，我们设计了一个身份管理智能合约。这个合约非常关键，它定义了一个从智能体ID到公钥的映射。当一个新智能体注册时，合约会检查其ID是否已存在，确保了身份的唯一性。一旦注册，公钥就被永久记录在链上，无法篡改。此外，合约还支持状态管理功能，比如可以将恶意行为的智能体封禁。这个合约是我们整个信任体系的基础数据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ECDSA在我们系统中具体应用的代码示例。在发送方，智能体在发送任何消息前，都会先构造一个包含自身ID、动作和时间戳的消息体，然后用自己的私钥对这个消息体进行签名，最后将消息体和签名一起发送出去。在接收方，也就是共识节点，它会首先解析消息体，获取发送方的ID，然后从链上获取该ID对应的公钥。最后，使用这个公钥来验证消息的签名。如果验证通过，才会处理这条消息；如果验证失败，就会直接丢弃，并记录异常日志。这个流程确保了只有经过认证的、完整的消息才能进入我们的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直观地展示我们的系统，我们开发了一个可视化监控面板。这个面板分为几个区域：左侧是在线智能体列表，显示了它们的身份信息和状态；中间是多智能体环境的实时动画；右侧是系统性能的监控图表；底部是日志窗口。通过这个面板，我们可以清晰地看到智能体的每一个动作是如何被签名、上链，并最终影响系统状态的。特别是在模拟攻击时，我们可以实时看到系统如何检测到异常并发出告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验证我们系统的安全性，我们进行了两组模拟攻击实验。在第一组实验中，我们模拟了消息篡改攻击。在没有ECDSA防护的情况下，篡改后的消息被系统接收，导致了协作混乱。而在启用了ECDSA后，由于签名验证失败，篡改的消息被直接丢弃，系统安然无恙。在第二组实验中，我们模拟了身份伪造攻击。同样，在没有ECDSA时，攻击成功；而在有ECDSA时，由于无法通过被冒充者的公钥验证，攻击被成功拦截。这些实验充分证明了ECDSA在保障系统安全方面的关键作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功能和安全测试，我们还对系统的性能进行了量化分析。首先，ECDSA的签名和验证操作本身非常高效，单次操作耗时都在毫秒级别，对系统性能的影响几乎可以忽略。其次，我们对比了在存在自私节点的情况下，纯MARL和我们系统的协作效果。结果显示，纯MARL的协作很快崩溃，而我们的系统能够维持稳定的协作，全局奖励提升了近29%。最后，我们评估了引入区块链和密码学操作带来的额外开销，发现它对MARL训练速度的影响约为8.5%，这在实际应用中是完全可以接受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我们的项目进行总结。我们的核心创新和贡献主要体现在四个方面。第一，我们构建了一个全链路的可信认证体系，将ECDSA应用到了极致。第二，我们实现了安全与效率的良好平衡，既保证了安全性，又没有牺牲过多的性能。第三，我们通过智能合约和ECDSA，设计了一套机制驱动的协作激励方案，从根本上解决了协作意愿问题。最后，我们完成了整个项目的工程化实现，提供了一套完整、可复现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认为还有几个值得探索的方向。首先是后量子密码学的兼容，以应对未来量子计算可能带来的威胁。其次，可以将我们的方案应用到更复杂的协作场景中，比如星际争霸多智能体挑战赛。长远来看，我们希望能将这套系统部署到真实的物理机器人集群上进行验证。最后，在性能方面还有进一步优化的空间，以支持更大规模的智能体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0" Type="http://schemas.openxmlformats.org/officeDocument/2006/relationships/notesSlide" Target="../notesSlides/notesSlide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3.svg"/><Relationship Id="rId10" Type="http://schemas.openxmlformats.org/officeDocument/2006/relationships/notesSlide" Target="../notesSlides/notesSlide10.xml"/><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svg"/><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3" Type="http://schemas.openxmlformats.org/officeDocument/2006/relationships/image" Target="../media/image43.png"/><Relationship Id="rId2" Type="http://schemas.openxmlformats.org/officeDocument/2006/relationships/image" Target="../media/image42.svg"/><Relationship Id="rId10" Type="http://schemas.openxmlformats.org/officeDocument/2006/relationships/notesSlide" Target="../notesSlides/notesSlide16.xml"/><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18.svg"/><Relationship Id="rId1" Type="http://schemas.openxmlformats.org/officeDocument/2006/relationships/image" Target="../media/image40.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 Id="rId3" Type="http://schemas.openxmlformats.org/officeDocument/2006/relationships/image" Target="../media/image53.png"/><Relationship Id="rId2" Type="http://schemas.openxmlformats.org/officeDocument/2006/relationships/image" Target="../media/image30.svg"/><Relationship Id="rId10" Type="http://schemas.openxmlformats.org/officeDocument/2006/relationships/notesSlide" Target="../notesSlides/notesSlide20.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D3037">
                <a:alpha val="100000"/>
              </a:srgbClr>
            </a:gs>
            <a:gs pos="100000">
              <a:srgbClr val="14161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8890000" y="4445000"/>
            <a:ext cx="4445000" cy="4445000"/>
          </a:xfrm>
          <a:prstGeom prst="ellipse">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0"/>
            <a:ext cx="12192000" cy="6858000"/>
          </a:xfrm>
          <a:prstGeom prst="roundRect">
            <a:avLst>
              <a:gd name="adj" fmla="val 0"/>
            </a:avLst>
          </a:prstGeom>
          <a:solidFill>
            <a:srgbClr val="333333">
              <a:alpha val="7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2413000"/>
            <a:ext cx="11176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MARL-ECDSA共识链：面向多智能体强化学习的区块链AI协同共识机制</a:t>
            </a:r>
            <a:endParaRPr lang="en-US" sz="1100"/>
          </a:p>
        </p:txBody>
      </p:sp>
      <p:cxnSp>
        <p:nvCxnSpPr>
          <p:cNvPr id="6" name="Connector 6"/>
          <p:cNvCxnSpPr/>
          <p:nvPr/>
        </p:nvCxnSpPr>
        <p:spPr>
          <a:xfrm rot="-8594">
            <a:off x="3556008" y="4184650"/>
            <a:ext cx="5080000" cy="12700"/>
          </a:xfrm>
          <a:prstGeom prst="straightConnector1">
            <a:avLst/>
          </a:prstGeom>
          <a:solidFill>
            <a:srgbClr val="DEE0E3">
              <a:alpha val="100000"/>
            </a:srgbClr>
          </a:solidFill>
          <a:ln w="25400" cap="flat" cmpd="sng">
            <a:solidFill>
              <a:srgbClr val="00C896">
                <a:alpha val="100000"/>
              </a:srgbClr>
            </a:solidFill>
            <a:prstDash val="solid"/>
            <a:round/>
            <a:headEnd type="none" w="lg" len="lg"/>
            <a:tailEnd type="none" w="lg" len="lg"/>
          </a:ln>
        </p:spPr>
      </p:cxnSp>
      <p:sp>
        <p:nvSpPr>
          <p:cNvPr id="7" name="AutoShape 7"/>
          <p:cNvSpPr/>
          <p:nvPr/>
        </p:nvSpPr>
        <p:spPr>
          <a:xfrm>
            <a:off x="508000" y="4445000"/>
            <a:ext cx="1117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现代密码学课程设计答辩</a:t>
            </a:r>
            <a:endParaRPr lang="en-US" sz="1100"/>
          </a:p>
        </p:txBody>
      </p:sp>
      <p:sp>
        <p:nvSpPr>
          <p:cNvPr id="8" name="AutoShape 8"/>
          <p:cNvSpPr/>
          <p:nvPr/>
        </p:nvSpPr>
        <p:spPr>
          <a:xfrm>
            <a:off x="0" y="5588000"/>
            <a:ext cx="12192000" cy="1270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5778500"/>
            <a:ext cx="355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汇报人团队</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张敏杰</a:t>
            </a:r>
            <a:endParaRPr lang="en-US" sz="1100"/>
          </a:p>
        </p:txBody>
      </p:sp>
      <p:cxnSp>
        <p:nvCxnSpPr>
          <p:cNvPr id="10" name="Connector 10"/>
          <p:cNvCxnSpPr/>
          <p:nvPr/>
        </p:nvCxnSpPr>
        <p:spPr>
          <a:xfrm rot="5331254">
            <a:off x="4254500" y="6089713"/>
            <a:ext cx="63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1" name="AutoShape 11"/>
          <p:cNvSpPr/>
          <p:nvPr/>
        </p:nvSpPr>
        <p:spPr>
          <a:xfrm>
            <a:off x="4826000" y="57785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连至助</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老师</a:t>
            </a:r>
            <a:endPar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31254">
            <a:off x="7937500" y="6089713"/>
            <a:ext cx="63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3" name="AutoShape 13"/>
          <p:cNvSpPr/>
          <p:nvPr/>
        </p:nvSpPr>
        <p:spPr>
          <a:xfrm>
            <a:off x="8509000" y="57785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答辩日期</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2026年6月 · </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网络空间安全</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学院</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汇报目录</a:t>
            </a:r>
            <a:endParaRPr lang="en-US" sz="1100"/>
          </a:p>
        </p:txBody>
      </p:sp>
      <p:sp>
        <p:nvSpPr>
          <p:cNvPr id="3" name="AutoShape 3"/>
          <p:cNvSpPr/>
          <p:nvPr/>
        </p:nvSpPr>
        <p:spPr>
          <a:xfrm>
            <a:off x="762000" y="1524000"/>
            <a:ext cx="10668000" cy="25400"/>
          </a:xfrm>
          <a:prstGeom prst="roundRect">
            <a:avLst>
              <a:gd name="adj" fmla="val 0"/>
            </a:avLst>
          </a:prstGeom>
          <a:solidFill>
            <a:srgbClr val="00C896">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cxnSp>
        <p:nvCxnSpPr>
          <p:cNvPr id="7" name="Connector 7"/>
          <p:cNvCxnSpPr/>
          <p:nvPr/>
        </p:nvCxnSpPr>
        <p:spPr>
          <a:xfrm rot="5359557">
            <a:off x="1492250" y="2692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8" name="AutoShape 8"/>
          <p:cNvSpPr/>
          <p:nvPr/>
        </p:nvSpPr>
        <p:spPr>
          <a:xfrm>
            <a:off x="2222500" y="2159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项目背景与问题定义</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阐述研究领域的行业背景，梳理当前技术应用中存在的核心痛点，并明确本项目的研究目标与解决方向。</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556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556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619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cxnSp>
        <p:nvCxnSpPr>
          <p:cNvPr id="12" name="Connector 12"/>
          <p:cNvCxnSpPr/>
          <p:nvPr/>
        </p:nvCxnSpPr>
        <p:spPr>
          <a:xfrm rot="5359557">
            <a:off x="1492250" y="4216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3" name="AutoShape 13"/>
          <p:cNvSpPr/>
          <p:nvPr/>
        </p:nvSpPr>
        <p:spPr>
          <a:xfrm>
            <a:off x="2222500" y="3683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ECDSA核心原理与安全性分析</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深入剖析椭圆曲线数字签名算法的数学基础，拆解签名与验证的完整流程，并探讨针对算法的现有安全增强方案。</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62000" y="5080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080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143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cxnSp>
        <p:nvCxnSpPr>
          <p:cNvPr id="17" name="Connector 17"/>
          <p:cNvCxnSpPr/>
          <p:nvPr/>
        </p:nvCxnSpPr>
        <p:spPr>
          <a:xfrm rot="5359557">
            <a:off x="1492250" y="5740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8" name="AutoShape 18"/>
          <p:cNvSpPr/>
          <p:nvPr/>
        </p:nvSpPr>
        <p:spPr>
          <a:xfrm>
            <a:off x="2222500" y="5207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项目整体架构与设计</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展示系统的整体分层架构，说明ECDSA在系统中的具体应用位置，梳理从请求到签名验证的核心业务流转逻辑。</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77000" y="2032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77000" y="2032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731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cxnSp>
        <p:nvCxnSpPr>
          <p:cNvPr id="22" name="Connector 22"/>
          <p:cNvCxnSpPr/>
          <p:nvPr/>
        </p:nvCxnSpPr>
        <p:spPr>
          <a:xfrm rot="5359557">
            <a:off x="7207250" y="2692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3" name="AutoShape 23"/>
          <p:cNvSpPr/>
          <p:nvPr/>
        </p:nvSpPr>
        <p:spPr>
          <a:xfrm>
            <a:off x="7937500" y="2159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核心模块实现与技术细节</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详解关键功能模块的代码实现逻辑，分析智能合约的设计思路与优化点，以及底层算法的工程化落地细节。</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477000" y="3556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77000" y="3556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731000" y="3619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cxnSp>
        <p:nvCxnSpPr>
          <p:cNvPr id="27" name="Connector 27"/>
          <p:cNvCxnSpPr/>
          <p:nvPr/>
        </p:nvCxnSpPr>
        <p:spPr>
          <a:xfrm rot="5359557">
            <a:off x="7207250" y="4216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8" name="AutoShape 28"/>
          <p:cNvSpPr/>
          <p:nvPr/>
        </p:nvSpPr>
        <p:spPr>
          <a:xfrm>
            <a:off x="7937500" y="3683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系统演示与成果验证</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通过系统功能的实际演示，结合安全漏洞测试与性能压力测试的量化数据，验证方案的可行性与优越性。</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6477000" y="5080000"/>
            <a:ext cx="5207000" cy="1333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477000" y="5080000"/>
            <a:ext cx="76200" cy="1333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731000" y="5143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00C89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cxnSp>
        <p:nvCxnSpPr>
          <p:cNvPr id="32" name="Connector 32"/>
          <p:cNvCxnSpPr/>
          <p:nvPr/>
        </p:nvCxnSpPr>
        <p:spPr>
          <a:xfrm rot="5359557">
            <a:off x="7207250" y="5740437"/>
            <a:ext cx="1079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33" name="AutoShape 33"/>
          <p:cNvSpPr/>
          <p:nvPr/>
        </p:nvSpPr>
        <p:spPr>
          <a:xfrm>
            <a:off x="7937500" y="5207000"/>
            <a:ext cx="355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总结项目的核心创新点与研究成果，分析当前方案的局限性，并对未来技术迭代方向与应用场景拓展进行展望。</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项目背景与问题定义</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00C896">
                <a:alpha val="40000"/>
              </a:srgbClr>
            </a:solidFill>
            <a:prstDash val="solid"/>
            <a:round/>
            <a:headEnd type="none" w="med" len="med"/>
            <a:tailEnd type="none" w="med" len="med"/>
          </a:ln>
        </p:spPr>
      </p:cxnSp>
      <p:sp>
        <p:nvSpPr>
          <p:cNvPr id="4" name="AutoShape 4"/>
          <p:cNvSpPr/>
          <p:nvPr/>
        </p:nvSpPr>
        <p:spPr>
          <a:xfrm>
            <a:off x="762000" y="1651000"/>
            <a:ext cx="1066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智能体强化学习（MARL）是实现分布式智能协作的核心技术，通过模拟群体交互优化策略以达成共同目标。然而，现有算法普遍建立在“所有智能体诚实协作”的理想假设之上，在真实开放的网络环境中，这一前提的缺失导致系统面临严峻的信任挑战。</a:t>
            </a:r>
            <a:endParaRPr lang="en-US" sz="1100"/>
          </a:p>
        </p:txBody>
      </p:sp>
      <p:sp>
        <p:nvSpPr>
          <p:cNvPr id="5" name="AutoShape 5"/>
          <p:cNvSpPr/>
          <p:nvPr/>
        </p:nvSpPr>
        <p:spPr>
          <a:xfrm>
            <a:off x="762000" y="3048000"/>
            <a:ext cx="3378200" cy="2095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3048000"/>
            <a:ext cx="50800" cy="2095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3175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身份不可信：接入无门槛</a:t>
            </a:r>
            <a:endParaRPr lang="en-US" sz="1100"/>
          </a:p>
        </p:txBody>
      </p:sp>
      <p:cxnSp>
        <p:nvCxnSpPr>
          <p:cNvPr id="8" name="Connector 8"/>
          <p:cNvCxnSpPr/>
          <p:nvPr/>
        </p:nvCxnSpPr>
        <p:spPr>
          <a:xfrm rot="-14566">
            <a:off x="952513" y="3740150"/>
            <a:ext cx="2997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952500" y="393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开放网络中恶意节点可随意伪造身份接入系统，发布虚假环境观测与错误决策指令，破坏全局协作秩序，导致群体策略收敛失效，系统安全性无从保障。</a:t>
            </a:r>
            <a:endParaRPr lang="en-US" sz="1100"/>
          </a:p>
        </p:txBody>
      </p:sp>
      <p:sp>
        <p:nvSpPr>
          <p:cNvPr id="10" name="AutoShape 10"/>
          <p:cNvSpPr/>
          <p:nvPr/>
        </p:nvSpPr>
        <p:spPr>
          <a:xfrm>
            <a:off x="4394200" y="3048000"/>
            <a:ext cx="3378200" cy="2095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3048000"/>
            <a:ext cx="50800" cy="2095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84700" y="3175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行为可篡改：数据无溯源</a:t>
            </a:r>
            <a:endParaRPr lang="en-US" sz="1100"/>
          </a:p>
        </p:txBody>
      </p:sp>
      <p:cxnSp>
        <p:nvCxnSpPr>
          <p:cNvPr id="13" name="Connector 13"/>
          <p:cNvCxnSpPr/>
          <p:nvPr/>
        </p:nvCxnSpPr>
        <p:spPr>
          <a:xfrm rot="-14566">
            <a:off x="4584713" y="3740150"/>
            <a:ext cx="2997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4" name="AutoShape 14"/>
          <p:cNvSpPr/>
          <p:nvPr/>
        </p:nvSpPr>
        <p:spPr>
          <a:xfrm>
            <a:off x="4584700" y="393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智能体的交互动作、局部收益等关键数据缺乏不可篡改的链式记录，当出现背叛、作弊等行为时，无法对历史数据进行追溯与取证，也难以实施有效的仲裁与问责。</a:t>
            </a:r>
            <a:endParaRPr lang="en-US" sz="1100"/>
          </a:p>
        </p:txBody>
      </p:sp>
      <p:sp>
        <p:nvSpPr>
          <p:cNvPr id="15" name="AutoShape 15"/>
          <p:cNvSpPr/>
          <p:nvPr/>
        </p:nvSpPr>
        <p:spPr>
          <a:xfrm>
            <a:off x="8026400" y="3048000"/>
            <a:ext cx="3378200" cy="2095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026400" y="3048000"/>
            <a:ext cx="50800" cy="2095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216900" y="3175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激励无强制：协作无约束</a:t>
            </a:r>
            <a:endParaRPr lang="en-US" sz="1100"/>
          </a:p>
        </p:txBody>
      </p:sp>
      <p:cxnSp>
        <p:nvCxnSpPr>
          <p:cNvPr id="18" name="Connector 18"/>
          <p:cNvCxnSpPr/>
          <p:nvPr/>
        </p:nvCxnSpPr>
        <p:spPr>
          <a:xfrm rot="-14566">
            <a:off x="8216913" y="3740150"/>
            <a:ext cx="29972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9" name="AutoShape 19"/>
          <p:cNvSpPr/>
          <p:nvPr/>
        </p:nvSpPr>
        <p:spPr>
          <a:xfrm>
            <a:off x="8216900" y="3937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纯算法层面的协作规则仅为软约束，无法从机制上杜绝“搭便车”现象；当背叛的短期收益显著高于合作收益时，理性智能体将选择背离群体目标，导致协作体系崩溃。</a:t>
            </a:r>
            <a:endParaRPr lang="en-US" sz="1100"/>
          </a:p>
        </p:txBody>
      </p:sp>
      <p:sp>
        <p:nvSpPr>
          <p:cNvPr id="20" name="AutoShape 20"/>
          <p:cNvSpPr/>
          <p:nvPr/>
        </p:nvSpPr>
        <p:spPr>
          <a:xfrm>
            <a:off x="762000" y="5461000"/>
            <a:ext cx="10668000" cy="9525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5588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核心瓶颈：</a:t>
            </a: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现有MARL技术缺乏底层的去中心化信任验证与强制激励机制，这是制约其从封闭仿真环境走向真实开放世界大规模商业应用的关键障碍。</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项目背景与问题定义</a:t>
            </a:r>
            <a:endParaRPr lang="en-US" sz="1100"/>
          </a:p>
        </p:txBody>
      </p:sp>
      <p:sp>
        <p:nvSpPr>
          <p:cNvPr id="3" name="AutoShape 3"/>
          <p:cNvSpPr/>
          <p:nvPr/>
        </p:nvSpPr>
        <p:spPr>
          <a:xfrm>
            <a:off x="762000" y="1778000"/>
            <a:ext cx="10668000" cy="1143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76200" cy="1143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841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核心问题：如何在不依赖中心化权威的前提下，为多智能体强化学习（MARL）构建一个</a:t>
            </a: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安全、可信、且能激励协作</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的底层基础设施？这是实现去中心化多智能体系统规模化落地的关键挑战。</a:t>
            </a:r>
            <a:endParaRPr lang="en-US" sz="1100"/>
          </a:p>
        </p:txBody>
      </p:sp>
      <p:sp>
        <p:nvSpPr>
          <p:cNvPr id="6" name="AutoShape 6"/>
          <p:cNvSpPr/>
          <p:nvPr/>
        </p:nvSpPr>
        <p:spPr>
          <a:xfrm>
            <a:off x="762000" y="3429000"/>
            <a:ext cx="3378200" cy="15875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429000"/>
            <a:ext cx="3378200" cy="381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3619500"/>
            <a:ext cx="304800" cy="304800"/>
          </a:xfrm>
          <a:prstGeom prst="rect">
            <a:avLst/>
          </a:prstGeom>
        </p:spPr>
      </p:pic>
      <p:sp>
        <p:nvSpPr>
          <p:cNvPr id="9" name="AutoShape 9"/>
          <p:cNvSpPr/>
          <p:nvPr/>
        </p:nvSpPr>
        <p:spPr>
          <a:xfrm>
            <a:off x="1397000" y="3581400"/>
            <a:ext cx="2616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身份认证的真实性</a:t>
            </a:r>
            <a:endParaRPr lang="en-US" sz="1100"/>
          </a:p>
        </p:txBody>
      </p:sp>
      <p:cxnSp>
        <p:nvCxnSpPr>
          <p:cNvPr id="10" name="Connector 10"/>
          <p:cNvCxnSpPr/>
          <p:nvPr/>
        </p:nvCxnSpPr>
        <p:spPr>
          <a:xfrm rot="-14566">
            <a:off x="952513" y="4121150"/>
            <a:ext cx="29972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1" name="AutoShape 11"/>
          <p:cNvSpPr/>
          <p:nvPr/>
        </p:nvSpPr>
        <p:spPr>
          <a:xfrm>
            <a:off x="952500" y="42545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智能体网络中节点匿名且动态，需建立机制确保每个参与主体的身份唯一、真实且不可冒充，是信任的基础前提。</a:t>
            </a:r>
            <a:endParaRPr lang="en-US" sz="1100"/>
          </a:p>
        </p:txBody>
      </p:sp>
      <p:sp>
        <p:nvSpPr>
          <p:cNvPr id="12" name="AutoShape 12"/>
          <p:cNvSpPr/>
          <p:nvPr/>
        </p:nvSpPr>
        <p:spPr>
          <a:xfrm>
            <a:off x="4394200" y="3429000"/>
            <a:ext cx="3378200" cy="15875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3429000"/>
            <a:ext cx="3378200" cy="381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84700" y="3619500"/>
            <a:ext cx="304800" cy="304800"/>
          </a:xfrm>
          <a:prstGeom prst="rect">
            <a:avLst/>
          </a:prstGeom>
        </p:spPr>
      </p:pic>
      <p:sp>
        <p:nvSpPr>
          <p:cNvPr id="15" name="AutoShape 15"/>
          <p:cNvSpPr/>
          <p:nvPr/>
        </p:nvSpPr>
        <p:spPr>
          <a:xfrm>
            <a:off x="5029200" y="3581400"/>
            <a:ext cx="2616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数据传输的完整性</a:t>
            </a:r>
            <a:endParaRPr lang="en-US" sz="1100"/>
          </a:p>
        </p:txBody>
      </p:sp>
      <p:cxnSp>
        <p:nvCxnSpPr>
          <p:cNvPr id="16" name="Connector 16"/>
          <p:cNvCxnSpPr/>
          <p:nvPr/>
        </p:nvCxnSpPr>
        <p:spPr>
          <a:xfrm rot="-14566">
            <a:off x="4584713" y="4121150"/>
            <a:ext cx="29972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7" name="AutoShape 17"/>
          <p:cNvSpPr/>
          <p:nvPr/>
        </p:nvSpPr>
        <p:spPr>
          <a:xfrm>
            <a:off x="4584700" y="42545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多智能体间的交互消息与行为数据在分布式网络中传输时，必须保证内容不被恶意篡改或伪造，确保信息传递的保真度。</a:t>
            </a:r>
            <a:endParaRPr lang="en-US" sz="1100"/>
          </a:p>
        </p:txBody>
      </p:sp>
      <p:sp>
        <p:nvSpPr>
          <p:cNvPr id="18" name="AutoShape 18"/>
          <p:cNvSpPr/>
          <p:nvPr/>
        </p:nvSpPr>
        <p:spPr>
          <a:xfrm>
            <a:off x="8026400" y="3429000"/>
            <a:ext cx="3403600" cy="15875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3429000"/>
            <a:ext cx="3403600" cy="381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3619500"/>
            <a:ext cx="304800" cy="304800"/>
          </a:xfrm>
          <a:prstGeom prst="rect">
            <a:avLst/>
          </a:prstGeom>
        </p:spPr>
      </p:pic>
      <p:sp>
        <p:nvSpPr>
          <p:cNvPr id="21" name="AutoShape 21"/>
          <p:cNvSpPr/>
          <p:nvPr/>
        </p:nvSpPr>
        <p:spPr>
          <a:xfrm>
            <a:off x="8661400" y="3581400"/>
            <a:ext cx="2616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行为操作的可追溯性</a:t>
            </a:r>
            <a:endParaRPr lang="en-US" sz="1100"/>
          </a:p>
        </p:txBody>
      </p:sp>
      <p:cxnSp>
        <p:nvCxnSpPr>
          <p:cNvPr id="22" name="Connector 22"/>
          <p:cNvCxnSpPr/>
          <p:nvPr/>
        </p:nvCxnSpPr>
        <p:spPr>
          <a:xfrm rot="-14505">
            <a:off x="8216913" y="4121150"/>
            <a:ext cx="30099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23" name="AutoShape 23"/>
          <p:cNvSpPr/>
          <p:nvPr/>
        </p:nvSpPr>
        <p:spPr>
          <a:xfrm>
            <a:off x="8216900" y="4254500"/>
            <a:ext cx="2997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所有智能体的关键行为与交互记录需被永久留存，当系统中出现争议或违约行为时，可进行可靠的审计、仲裁与责任追溯。</a:t>
            </a:r>
            <a:endParaRPr lang="en-US" sz="1100"/>
          </a:p>
        </p:txBody>
      </p:sp>
      <p:sp>
        <p:nvSpPr>
          <p:cNvPr id="24" name="AutoShape 24"/>
          <p:cNvSpPr/>
          <p:nvPr/>
        </p:nvSpPr>
        <p:spPr>
          <a:xfrm>
            <a:off x="762000" y="5397500"/>
            <a:ext cx="10668000" cy="10795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5397500"/>
            <a:ext cx="50800" cy="1079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88000"/>
            <a:ext cx="457200" cy="457200"/>
          </a:xfrm>
          <a:prstGeom prst="rect">
            <a:avLst/>
          </a:prstGeom>
        </p:spPr>
      </p:pic>
      <p:sp>
        <p:nvSpPr>
          <p:cNvPr id="27" name="AutoShape 27"/>
          <p:cNvSpPr/>
          <p:nvPr/>
        </p:nvSpPr>
        <p:spPr>
          <a:xfrm>
            <a:off x="1778000" y="5524500"/>
            <a:ext cx="939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解决方案：构建“区块链+ECDSA数字签名”的去中心化信任体系</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以区块链作为不可篡改的分布式可信账本记录行为，以ECDSA数字签名作为核心密码学工具保障身份与数据安全，二者结合从底层解决信任困境。</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项目背景与问题定义</a:t>
            </a:r>
            <a:endParaRPr lang="en-US" sz="1100"/>
          </a:p>
        </p:txBody>
      </p:sp>
      <p:sp>
        <p:nvSpPr>
          <p:cNvPr id="3" name="AutoShape 3"/>
          <p:cNvSpPr/>
          <p:nvPr/>
        </p:nvSpPr>
        <p:spPr>
          <a:xfrm>
            <a:off x="762000" y="1651000"/>
            <a:ext cx="10668000" cy="1143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1143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526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总体目标：</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设计并实现一套基于ECDSA的区块链AI协同共识机制，为MARL提供可插拔的可信增强模块，解决其在开放环境中的信任与安全问题，保障多智能体协作的可靠性与数据完整性。</a:t>
            </a:r>
            <a:endParaRPr lang="en-US" sz="1100"/>
          </a:p>
        </p:txBody>
      </p:sp>
      <p:sp>
        <p:nvSpPr>
          <p:cNvPr id="6" name="AutoShape 6"/>
          <p:cNvSpPr/>
          <p:nvPr/>
        </p:nvSpPr>
        <p:spPr>
          <a:xfrm>
            <a:off x="762000" y="3175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安全认证维度</a:t>
            </a:r>
            <a:endParaRPr lang="en-US" sz="1100"/>
          </a:p>
        </p:txBody>
      </p:sp>
      <p:cxnSp>
        <p:nvCxnSpPr>
          <p:cNvPr id="7" name="Connector 7"/>
          <p:cNvCxnSpPr/>
          <p:nvPr/>
        </p:nvCxnSpPr>
        <p:spPr>
          <a:xfrm rot="-12732">
            <a:off x="762012" y="3676650"/>
            <a:ext cx="3429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8" name="AutoShape 8"/>
          <p:cNvSpPr/>
          <p:nvPr/>
        </p:nvSpPr>
        <p:spPr>
          <a:xfrm>
            <a:off x="762000" y="39370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ECDSA身份认证准确率</a:t>
            </a:r>
            <a:endParaRPr lang="en-US" sz="1100"/>
          </a:p>
          <a:p>
            <a:pPr marL="0" indent="0" algn="l">
              <a:lnSpc>
                <a:spcPct val="125000"/>
              </a:lnSpc>
            </a:pPr>
            <a:r>
              <a:rPr lang="en-US" sz="2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确保节点身份不可伪造与抵赖</a:t>
            </a:r>
            <a:endPar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12732">
            <a:off x="762012" y="5073650"/>
            <a:ext cx="342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0" name="AutoShape 10"/>
          <p:cNvSpPr/>
          <p:nvPr/>
        </p:nvSpPr>
        <p:spPr>
          <a:xfrm>
            <a:off x="762000" y="5270500"/>
            <a:ext cx="158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消息篡改检测率</a:t>
            </a:r>
            <a:endParaRPr lang="en-US" sz="1100"/>
          </a:p>
          <a:p>
            <a:pPr marL="0" indent="0" algn="l">
              <a:lnSpc>
                <a:spcPct val="125000"/>
              </a:lnSpc>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endPar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5347115">
            <a:off x="2025650" y="5740449"/>
            <a:ext cx="8255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2" name="AutoShape 12"/>
          <p:cNvSpPr/>
          <p:nvPr/>
        </p:nvSpPr>
        <p:spPr>
          <a:xfrm>
            <a:off x="2540000" y="52705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k值重用攻击拦截</a:t>
            </a:r>
            <a:endParaRPr lang="en-US" sz="1100"/>
          </a:p>
          <a:p>
            <a:pPr marL="0" indent="0" algn="l">
              <a:lnSpc>
                <a:spcPct val="125000"/>
              </a:lnSpc>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endPar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85676">
            <a:off x="2819400" y="4819663"/>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4" name="AutoShape 14"/>
          <p:cNvSpPr/>
          <p:nvPr/>
        </p:nvSpPr>
        <p:spPr>
          <a:xfrm>
            <a:off x="4445000" y="3175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协作效果维度</a:t>
            </a:r>
            <a:endParaRPr lang="en-US" sz="1100"/>
          </a:p>
        </p:txBody>
      </p:sp>
      <p:cxnSp>
        <p:nvCxnSpPr>
          <p:cNvPr id="15" name="Connector 15"/>
          <p:cNvCxnSpPr/>
          <p:nvPr/>
        </p:nvCxnSpPr>
        <p:spPr>
          <a:xfrm rot="-12732">
            <a:off x="4445012" y="3676650"/>
            <a:ext cx="3429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16" name="AutoShape 16"/>
          <p:cNvSpPr/>
          <p:nvPr/>
        </p:nvSpPr>
        <p:spPr>
          <a:xfrm>
            <a:off x="4445000" y="3937000"/>
            <a:ext cx="3429000" cy="10795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572000" y="406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30%自私节点环境下全局奖励提升</a:t>
            </a:r>
            <a:endParaRPr lang="en-US" sz="1100"/>
          </a:p>
          <a:p>
            <a:pPr marL="0" indent="0" algn="l">
              <a:lnSpc>
                <a:spcPct val="125000"/>
              </a:lnSpc>
            </a:pPr>
            <a:r>
              <a:rPr lang="en-US" sz="22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 25%</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有效抑制搭便车，提升群体收益</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445000" y="5207000"/>
            <a:ext cx="3429000" cy="10795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572000" y="533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50%高占比自私节点协作稳定性</a:t>
            </a:r>
            <a:endParaRPr lang="en-US" sz="1100"/>
          </a:p>
          <a:p>
            <a:pPr marL="0" indent="0" algn="l">
              <a:lnSpc>
                <a:spcPct val="125000"/>
              </a:lnSpc>
            </a:pPr>
            <a:r>
              <a:rPr lang="en-US" sz="2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维持稳定</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共识机制具备强鲁棒性与容错性</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5385676">
            <a:off x="6502400" y="4819663"/>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1" name="AutoShape 21"/>
          <p:cNvSpPr/>
          <p:nvPr/>
        </p:nvSpPr>
        <p:spPr>
          <a:xfrm>
            <a:off x="8128000" y="3175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03 / 系统性能维度</a:t>
            </a:r>
            <a:endParaRPr lang="en-US" sz="1100"/>
          </a:p>
        </p:txBody>
      </p:sp>
      <p:cxnSp>
        <p:nvCxnSpPr>
          <p:cNvPr id="22" name="Connector 22"/>
          <p:cNvCxnSpPr/>
          <p:nvPr/>
        </p:nvCxnSpPr>
        <p:spPr>
          <a:xfrm rot="-12732">
            <a:off x="8128012" y="3676650"/>
            <a:ext cx="3429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23" name="AutoShape 23"/>
          <p:cNvSpPr/>
          <p:nvPr/>
        </p:nvSpPr>
        <p:spPr>
          <a:xfrm>
            <a:off x="8128000" y="3937000"/>
            <a:ext cx="342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共识协议端到端处理延迟</a:t>
            </a:r>
            <a:endParaRPr lang="en-US" sz="1100"/>
          </a:p>
          <a:p>
            <a:pPr marL="0" indent="0" algn="l">
              <a:lnSpc>
                <a:spcPct val="125000"/>
              </a:lnSpc>
            </a:pPr>
            <a:r>
              <a:rPr lang="en-US" sz="22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 150ms</a:t>
            </a:r>
            <a:r>
              <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满足多智能体实时交互与协作需求</a:t>
            </a:r>
            <a:endPar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4" name="Connector 24"/>
          <p:cNvCxnSpPr/>
          <p:nvPr/>
        </p:nvCxnSpPr>
        <p:spPr>
          <a:xfrm rot="-12732">
            <a:off x="8128012" y="5137150"/>
            <a:ext cx="342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5" name="AutoShape 25"/>
          <p:cNvSpPr/>
          <p:nvPr/>
        </p:nvSpPr>
        <p:spPr>
          <a:xfrm>
            <a:off x="8128000" y="53340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区块链引入对MARL训练速度影响</a:t>
            </a:r>
            <a:endParaRPr lang="en-US" sz="1100"/>
          </a:p>
          <a:p>
            <a:pPr marL="0" indent="0" algn="l">
              <a:lnSpc>
                <a:spcPct val="125000"/>
              </a:lnSpc>
            </a:pPr>
            <a:r>
              <a:rPr lang="en-US" sz="2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 10%</a:t>
            </a:r>
            <a:r>
              <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rPr>
              <a:t>密码学与链上操作的算力开销可控</a:t>
            </a:r>
            <a:endParaRPr lang="en-US" sz="1200" b="0" i="0" u="none" strike="noStrike">
              <a:solidFill>
                <a:srgbClr val="88888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ECDSA核心原理与安全性分析</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10668000" cy="762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762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79600"/>
            <a:ext cx="1016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ECDSA（椭圆曲线数字签名算法）的安全性本质上基于</a:t>
            </a:r>
            <a:r>
              <a:rPr lang="en-US" sz="15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椭圆曲线离散对数问题 (ECDLP)</a:t>
            </a:r>
            <a:r>
              <a:rPr lang="en-US" sz="15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的计算难解性，即在有限域上，已知椭圆曲线上的基点G和点Q，求解整数d使得Q=dG在计算上是不可行的。</a:t>
            </a:r>
            <a:endParaRPr lang="en-US" sz="1100"/>
          </a:p>
        </p:txBody>
      </p:sp>
      <p:sp>
        <p:nvSpPr>
          <p:cNvPr id="7" name="AutoShape 7"/>
          <p:cNvSpPr/>
          <p:nvPr/>
        </p:nvSpPr>
        <p:spPr>
          <a:xfrm>
            <a:off x="762000" y="3048000"/>
            <a:ext cx="3429000" cy="266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048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3302000"/>
            <a:ext cx="355600" cy="355600"/>
          </a:xfrm>
          <a:prstGeom prst="rect">
            <a:avLst/>
          </a:prstGeom>
        </p:spPr>
      </p:pic>
      <p:sp>
        <p:nvSpPr>
          <p:cNvPr id="10" name="AutoShape 10"/>
          <p:cNvSpPr/>
          <p:nvPr/>
        </p:nvSpPr>
        <p:spPr>
          <a:xfrm>
            <a:off x="1397000" y="3302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椭圆曲线方程定义</a:t>
            </a:r>
            <a:endParaRPr lang="en-US" sz="1100"/>
          </a:p>
        </p:txBody>
      </p:sp>
      <p:cxnSp>
        <p:nvCxnSpPr>
          <p:cNvPr id="11" name="Connector 11"/>
          <p:cNvCxnSpPr/>
          <p:nvPr/>
        </p:nvCxnSpPr>
        <p:spPr>
          <a:xfrm rot="-14323">
            <a:off x="952513" y="3867150"/>
            <a:ext cx="304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2" name="AutoShape 12"/>
          <p:cNvSpPr/>
          <p:nvPr/>
        </p:nvSpPr>
        <p:spPr>
          <a:xfrm>
            <a:off x="952500" y="40640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在有限域 GF(p) 上，椭圆曲线由 Weierstrass 方程定义：</a:t>
            </a:r>
            <a:endParaRPr lang="en-US" sz="1100"/>
          </a:p>
          <a:p>
            <a:pPr marL="0" indent="0" algn="l">
              <a:lnSpc>
                <a:spcPct val="125000"/>
              </a:lnSpc>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y² = x³ + ax + b</a:t>
            </a:r>
            <a:endPar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其中系数 a, b ∈ GF(p)，且必须满足判别式 4a³ + 27b² ≠ 0，以保证曲线非奇异。</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381500" y="3048000"/>
            <a:ext cx="3429000" cy="266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381500" y="3048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3302000"/>
            <a:ext cx="355600" cy="355600"/>
          </a:xfrm>
          <a:prstGeom prst="rect">
            <a:avLst/>
          </a:prstGeom>
        </p:spPr>
      </p:pic>
      <p:sp>
        <p:nvSpPr>
          <p:cNvPr id="16" name="AutoShape 16"/>
          <p:cNvSpPr/>
          <p:nvPr/>
        </p:nvSpPr>
        <p:spPr>
          <a:xfrm>
            <a:off x="5016500" y="3302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曲线上的核心运算</a:t>
            </a:r>
            <a:endParaRPr lang="en-US" sz="1100"/>
          </a:p>
        </p:txBody>
      </p:sp>
      <p:cxnSp>
        <p:nvCxnSpPr>
          <p:cNvPr id="17" name="Connector 17"/>
          <p:cNvCxnSpPr/>
          <p:nvPr/>
        </p:nvCxnSpPr>
        <p:spPr>
          <a:xfrm rot="-14323">
            <a:off x="4572013" y="3867150"/>
            <a:ext cx="304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8" name="AutoShape 18"/>
          <p:cNvSpPr/>
          <p:nvPr/>
        </p:nvSpPr>
        <p:spPr>
          <a:xfrm>
            <a:off x="4572000" y="40640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点加法与点乘法：</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定义了满足交换律、结合律的加法运算；点乘则是基点G与整数d的重复加法，即 Q = dG。</a:t>
            </a:r>
            <a:endParaRPr lang="en-US" sz="1100"/>
          </a:p>
          <a:p>
            <a:pPr marL="0" indent="0" algn="l">
              <a:lnSpc>
                <a:spcPct val="117000"/>
              </a:lnSpc>
            </a:pP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难解性核心：</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已知G和Q，推导整数d的过程在计算上极其困难，这构成了密码学安全的数学基石。</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001000" y="3048000"/>
            <a:ext cx="3429000" cy="266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001000" y="3048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3302000"/>
            <a:ext cx="355600" cy="355600"/>
          </a:xfrm>
          <a:prstGeom prst="rect">
            <a:avLst/>
          </a:prstGeom>
        </p:spPr>
      </p:pic>
      <p:sp>
        <p:nvSpPr>
          <p:cNvPr id="22" name="AutoShape 22"/>
          <p:cNvSpPr/>
          <p:nvPr/>
        </p:nvSpPr>
        <p:spPr>
          <a:xfrm>
            <a:off x="8636000" y="3302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公私钥生成逻辑</a:t>
            </a:r>
            <a:endParaRPr lang="en-US" sz="1100"/>
          </a:p>
        </p:txBody>
      </p:sp>
      <p:cxnSp>
        <p:nvCxnSpPr>
          <p:cNvPr id="23" name="Connector 23"/>
          <p:cNvCxnSpPr/>
          <p:nvPr/>
        </p:nvCxnSpPr>
        <p:spPr>
          <a:xfrm rot="-14323">
            <a:off x="8191513" y="3867150"/>
            <a:ext cx="3048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24" name="AutoShape 24"/>
          <p:cNvSpPr/>
          <p:nvPr/>
        </p:nvSpPr>
        <p:spPr>
          <a:xfrm>
            <a:off x="8191500" y="40640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私钥(d)：</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随机生成的大整数，是用户的核心秘密，需严格保密，不可泄露。</a:t>
            </a:r>
            <a:endParaRPr lang="en-US" sz="1100"/>
          </a:p>
          <a:p>
            <a:pPr marL="0" indent="0" algn="l">
              <a:lnSpc>
                <a:spcPct val="117000"/>
              </a:lnSpc>
            </a:pP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公钥(Q)：</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通过椭圆曲线点乘法计算得出 Q = dG，公钥可公开传输与使用，无法从Q反推d。</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762000" y="5969000"/>
            <a:ext cx="10668000" cy="6350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6070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椭圆曲线密码体制在相同安全强度下，密钥长度远短于RSA，计算效率更高，是现代数字签名的主流选择。</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ECDSA核心原理与安全性分析</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07000" cy="4318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431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558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签名流程 (Signer) —— 私钥持有者执行</a:t>
            </a:r>
            <a:endParaRPr lang="en-US" sz="1100"/>
          </a:p>
        </p:txBody>
      </p:sp>
      <p:sp>
        <p:nvSpPr>
          <p:cNvPr id="7" name="AutoShape 7"/>
          <p:cNvSpPr/>
          <p:nvPr/>
        </p:nvSpPr>
        <p:spPr>
          <a:xfrm>
            <a:off x="762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25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哈希计算</a:t>
            </a:r>
            <a:endParaRPr lang="en-US" sz="1100"/>
          </a:p>
        </p:txBody>
      </p:sp>
      <p:cxnSp>
        <p:nvCxnSpPr>
          <p:cNvPr id="9" name="Connector 9"/>
          <p:cNvCxnSpPr/>
          <p:nvPr/>
        </p:nvCxnSpPr>
        <p:spPr>
          <a:xfrm rot="-28647">
            <a:off x="825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10" name="AutoShape 10"/>
          <p:cNvSpPr/>
          <p:nvPr/>
        </p:nvSpPr>
        <p:spPr>
          <a:xfrm>
            <a:off x="825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对原始消息 m 进行哈希处理，得到摘要 h = SHA256(m)，压缩消息长度并确保唯一性。</a:t>
            </a:r>
            <a:endParaRPr lang="en-US" sz="1100"/>
          </a:p>
        </p:txBody>
      </p:sp>
      <p:sp>
        <p:nvSpPr>
          <p:cNvPr id="11" name="AutoShape 11"/>
          <p:cNvSpPr/>
          <p:nvPr/>
        </p:nvSpPr>
        <p:spPr>
          <a:xfrm>
            <a:off x="2540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603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随机数生成</a:t>
            </a:r>
            <a:endParaRPr lang="en-US" sz="1100"/>
          </a:p>
        </p:txBody>
      </p:sp>
      <p:cxnSp>
        <p:nvCxnSpPr>
          <p:cNvPr id="13" name="Connector 13"/>
          <p:cNvCxnSpPr/>
          <p:nvPr/>
        </p:nvCxnSpPr>
        <p:spPr>
          <a:xfrm rot="-28647">
            <a:off x="2603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14" name="AutoShape 14"/>
          <p:cNvSpPr/>
          <p:nvPr/>
        </p:nvSpPr>
        <p:spPr>
          <a:xfrm>
            <a:off x="2603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选取随机数 k ∈ [1, n-1]，n 为基点 G 的阶。k 的随机性是签名安全性的关键保障。</a:t>
            </a:r>
            <a:endParaRPr lang="en-US" sz="1100"/>
          </a:p>
        </p:txBody>
      </p:sp>
      <p:sp>
        <p:nvSpPr>
          <p:cNvPr id="15" name="AutoShape 15"/>
          <p:cNvSpPr/>
          <p:nvPr/>
        </p:nvSpPr>
        <p:spPr>
          <a:xfrm>
            <a:off x="4318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381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03 点乘法运算</a:t>
            </a:r>
            <a:endParaRPr lang="en-US" sz="1100"/>
          </a:p>
        </p:txBody>
      </p:sp>
      <p:cxnSp>
        <p:nvCxnSpPr>
          <p:cNvPr id="17" name="Connector 17"/>
          <p:cNvCxnSpPr/>
          <p:nvPr/>
        </p:nvCxnSpPr>
        <p:spPr>
          <a:xfrm rot="-28647">
            <a:off x="4381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18" name="AutoShape 18"/>
          <p:cNvSpPr/>
          <p:nvPr/>
        </p:nvSpPr>
        <p:spPr>
          <a:xfrm>
            <a:off x="4381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计算椭圆曲线上的点 (x₁, y₁) = kG。该点是签名过程中的核心中间变量。</a:t>
            </a:r>
            <a:endParaRPr lang="en-US" sz="1100"/>
          </a:p>
        </p:txBody>
      </p:sp>
      <p:sp>
        <p:nvSpPr>
          <p:cNvPr id="19" name="AutoShape 19"/>
          <p:cNvSpPr/>
          <p:nvPr/>
        </p:nvSpPr>
        <p:spPr>
          <a:xfrm>
            <a:off x="762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5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04 计算参数 r</a:t>
            </a:r>
            <a:endParaRPr lang="en-US" sz="1100"/>
          </a:p>
        </p:txBody>
      </p:sp>
      <p:cxnSp>
        <p:nvCxnSpPr>
          <p:cNvPr id="21" name="Connector 21"/>
          <p:cNvCxnSpPr/>
          <p:nvPr/>
        </p:nvCxnSpPr>
        <p:spPr>
          <a:xfrm rot="-28647">
            <a:off x="825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22" name="AutoShape 22"/>
          <p:cNvSpPr/>
          <p:nvPr/>
        </p:nvSpPr>
        <p:spPr>
          <a:xfrm>
            <a:off x="825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令 r = x₁ mod n。若 r = 0，则需重新生成随机数 k，确保参数有效性。</a:t>
            </a:r>
            <a:endParaRPr lang="en-US" sz="1100"/>
          </a:p>
        </p:txBody>
      </p:sp>
      <p:sp>
        <p:nvSpPr>
          <p:cNvPr id="23" name="AutoShape 23"/>
          <p:cNvSpPr/>
          <p:nvPr/>
        </p:nvSpPr>
        <p:spPr>
          <a:xfrm>
            <a:off x="2540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2603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05 计算参数 s</a:t>
            </a:r>
            <a:endParaRPr lang="en-US" sz="1100"/>
          </a:p>
        </p:txBody>
      </p:sp>
      <p:cxnSp>
        <p:nvCxnSpPr>
          <p:cNvPr id="25" name="Connector 25"/>
          <p:cNvCxnSpPr/>
          <p:nvPr/>
        </p:nvCxnSpPr>
        <p:spPr>
          <a:xfrm rot="-28647">
            <a:off x="2603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26" name="AutoShape 26"/>
          <p:cNvSpPr/>
          <p:nvPr/>
        </p:nvSpPr>
        <p:spPr>
          <a:xfrm>
            <a:off x="2603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 = k⁻¹ (h + dr) mod n。若 s = 0，同样需重新生成 k，完成签名核心计算。</a:t>
            </a:r>
            <a:endParaRPr lang="en-US" sz="1100"/>
          </a:p>
        </p:txBody>
      </p:sp>
      <p:sp>
        <p:nvSpPr>
          <p:cNvPr id="27" name="AutoShape 27"/>
          <p:cNvSpPr/>
          <p:nvPr/>
        </p:nvSpPr>
        <p:spPr>
          <a:xfrm>
            <a:off x="4318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4381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06 输出签名</a:t>
            </a:r>
            <a:endParaRPr lang="en-US" sz="1100"/>
          </a:p>
        </p:txBody>
      </p:sp>
      <p:cxnSp>
        <p:nvCxnSpPr>
          <p:cNvPr id="29" name="Connector 29"/>
          <p:cNvCxnSpPr/>
          <p:nvPr/>
        </p:nvCxnSpPr>
        <p:spPr>
          <a:xfrm rot="-28647">
            <a:off x="4381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30" name="AutoShape 30"/>
          <p:cNvSpPr/>
          <p:nvPr/>
        </p:nvSpPr>
        <p:spPr>
          <a:xfrm>
            <a:off x="4381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 (r, s) 作为最终数字签名，与原始消息 m 一同发送给验证方，完成签名环节。</a:t>
            </a:r>
            <a:endParaRPr lang="en-US" sz="1100"/>
          </a:p>
        </p:txBody>
      </p:sp>
      <p:cxnSp>
        <p:nvCxnSpPr>
          <p:cNvPr id="31" name="Connector 31"/>
          <p:cNvCxnSpPr/>
          <p:nvPr/>
        </p:nvCxnSpPr>
        <p:spPr>
          <a:xfrm rot="5390177">
            <a:off x="3937000" y="4121159"/>
            <a:ext cx="44450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32" name="AutoShape 32"/>
          <p:cNvSpPr/>
          <p:nvPr/>
        </p:nvSpPr>
        <p:spPr>
          <a:xfrm>
            <a:off x="6350000" y="1905000"/>
            <a:ext cx="5207000" cy="4318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350000" y="1905000"/>
            <a:ext cx="76200" cy="431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540500" y="19558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验证流程 (Verifier) —— 公钥持有者执行</a:t>
            </a:r>
            <a:endParaRPr lang="en-US" sz="1100"/>
          </a:p>
        </p:txBody>
      </p:sp>
      <p:sp>
        <p:nvSpPr>
          <p:cNvPr id="35" name="AutoShape 35"/>
          <p:cNvSpPr/>
          <p:nvPr/>
        </p:nvSpPr>
        <p:spPr>
          <a:xfrm>
            <a:off x="6350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413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合法性预检</a:t>
            </a:r>
            <a:endParaRPr lang="en-US" sz="1100"/>
          </a:p>
        </p:txBody>
      </p:sp>
      <p:cxnSp>
        <p:nvCxnSpPr>
          <p:cNvPr id="37" name="Connector 37"/>
          <p:cNvCxnSpPr/>
          <p:nvPr/>
        </p:nvCxnSpPr>
        <p:spPr>
          <a:xfrm rot="-28647">
            <a:off x="6413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38" name="AutoShape 38"/>
          <p:cNvSpPr/>
          <p:nvPr/>
        </p:nvSpPr>
        <p:spPr>
          <a:xfrm>
            <a:off x="6413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检查签名参数 r, s 是否属于区间 [1, n-1]，若超出范围则直接判定签名无效。</a:t>
            </a:r>
            <a:endParaRPr lang="en-US" sz="1100"/>
          </a:p>
        </p:txBody>
      </p:sp>
      <p:sp>
        <p:nvSpPr>
          <p:cNvPr id="39" name="AutoShape 39"/>
          <p:cNvSpPr/>
          <p:nvPr/>
        </p:nvSpPr>
        <p:spPr>
          <a:xfrm>
            <a:off x="8128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8191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哈希与逆元</a:t>
            </a:r>
            <a:endParaRPr lang="en-US" sz="1100"/>
          </a:p>
        </p:txBody>
      </p:sp>
      <p:cxnSp>
        <p:nvCxnSpPr>
          <p:cNvPr id="41" name="Connector 41"/>
          <p:cNvCxnSpPr/>
          <p:nvPr/>
        </p:nvCxnSpPr>
        <p:spPr>
          <a:xfrm rot="-28647">
            <a:off x="8191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42" name="AutoShape 42"/>
          <p:cNvSpPr/>
          <p:nvPr/>
        </p:nvSpPr>
        <p:spPr>
          <a:xfrm>
            <a:off x="8191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计算消息哈希 h = SHA256(m)，并求 s 的模 n 乘法逆元 w = s⁻¹ mod n。</a:t>
            </a:r>
            <a:endParaRPr lang="en-US" sz="1100"/>
          </a:p>
        </p:txBody>
      </p:sp>
      <p:sp>
        <p:nvSpPr>
          <p:cNvPr id="43" name="AutoShape 43"/>
          <p:cNvSpPr/>
          <p:nvPr/>
        </p:nvSpPr>
        <p:spPr>
          <a:xfrm>
            <a:off x="9906000" y="2794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9969500" y="2857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03 计算 u₁ 与 u₂</a:t>
            </a:r>
            <a:endParaRPr lang="en-US" sz="1100"/>
          </a:p>
        </p:txBody>
      </p:sp>
      <p:cxnSp>
        <p:nvCxnSpPr>
          <p:cNvPr id="45" name="Connector 45"/>
          <p:cNvCxnSpPr/>
          <p:nvPr/>
        </p:nvCxnSpPr>
        <p:spPr>
          <a:xfrm rot="-28647">
            <a:off x="9969526" y="3232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46" name="AutoShape 46"/>
          <p:cNvSpPr/>
          <p:nvPr/>
        </p:nvSpPr>
        <p:spPr>
          <a:xfrm>
            <a:off x="9969500" y="3365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计算中间参数：u₁ = h * w mod n；u₂ = r * w mod n，为后续点运算做准备。</a:t>
            </a:r>
            <a:endParaRPr lang="en-US" sz="1100"/>
          </a:p>
        </p:txBody>
      </p:sp>
      <p:sp>
        <p:nvSpPr>
          <p:cNvPr id="47" name="AutoShape 47"/>
          <p:cNvSpPr/>
          <p:nvPr/>
        </p:nvSpPr>
        <p:spPr>
          <a:xfrm>
            <a:off x="6350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48" name="AutoShape 48"/>
          <p:cNvSpPr/>
          <p:nvPr/>
        </p:nvSpPr>
        <p:spPr>
          <a:xfrm>
            <a:off x="6413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04 点加法运算</a:t>
            </a:r>
            <a:endParaRPr lang="en-US" sz="1100"/>
          </a:p>
        </p:txBody>
      </p:sp>
      <p:cxnSp>
        <p:nvCxnSpPr>
          <p:cNvPr id="49" name="Connector 49"/>
          <p:cNvCxnSpPr/>
          <p:nvPr/>
        </p:nvCxnSpPr>
        <p:spPr>
          <a:xfrm rot="-28647">
            <a:off x="6413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0" name="AutoShape 50"/>
          <p:cNvSpPr/>
          <p:nvPr/>
        </p:nvSpPr>
        <p:spPr>
          <a:xfrm>
            <a:off x="6413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利用公钥 Q 计算椭圆曲线上的点 (x₂, y₂) = u₁G + u₂Q，该点是验证的核心依据。</a:t>
            </a:r>
            <a:endParaRPr lang="en-US" sz="1100"/>
          </a:p>
        </p:txBody>
      </p:sp>
      <p:sp>
        <p:nvSpPr>
          <p:cNvPr id="51" name="AutoShape 51"/>
          <p:cNvSpPr/>
          <p:nvPr/>
        </p:nvSpPr>
        <p:spPr>
          <a:xfrm>
            <a:off x="8128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52" name="AutoShape 52"/>
          <p:cNvSpPr/>
          <p:nvPr/>
        </p:nvSpPr>
        <p:spPr>
          <a:xfrm>
            <a:off x="8191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结果比对</a:t>
            </a:r>
            <a:endParaRPr lang="en-US" sz="1100"/>
          </a:p>
        </p:txBody>
      </p:sp>
      <p:cxnSp>
        <p:nvCxnSpPr>
          <p:cNvPr id="53" name="Connector 53"/>
          <p:cNvCxnSpPr/>
          <p:nvPr/>
        </p:nvCxnSpPr>
        <p:spPr>
          <a:xfrm rot="-28647">
            <a:off x="8191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4" name="AutoShape 54"/>
          <p:cNvSpPr/>
          <p:nvPr/>
        </p:nvSpPr>
        <p:spPr>
          <a:xfrm>
            <a:off x="8191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 x₂ mod n 的值，并与签名中的 r 进行严格比对，判断二者是否完全相等。</a:t>
            </a:r>
            <a:endParaRPr lang="en-US" sz="1100"/>
          </a:p>
        </p:txBody>
      </p:sp>
      <p:sp>
        <p:nvSpPr>
          <p:cNvPr id="55" name="AutoShape 55"/>
          <p:cNvSpPr/>
          <p:nvPr/>
        </p:nvSpPr>
        <p:spPr>
          <a:xfrm>
            <a:off x="9906000" y="4572000"/>
            <a:ext cx="1651000" cy="1397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56" name="AutoShape 56"/>
          <p:cNvSpPr/>
          <p:nvPr/>
        </p:nvSpPr>
        <p:spPr>
          <a:xfrm>
            <a:off x="9969500" y="46355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06 验证结论</a:t>
            </a:r>
            <a:endParaRPr lang="en-US" sz="1100"/>
          </a:p>
        </p:txBody>
      </p:sp>
      <p:cxnSp>
        <p:nvCxnSpPr>
          <p:cNvPr id="57" name="Connector 57"/>
          <p:cNvCxnSpPr/>
          <p:nvPr/>
        </p:nvCxnSpPr>
        <p:spPr>
          <a:xfrm rot="-28647">
            <a:off x="9969526" y="5010150"/>
            <a:ext cx="1524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8" name="AutoShape 58"/>
          <p:cNvSpPr/>
          <p:nvPr/>
        </p:nvSpPr>
        <p:spPr>
          <a:xfrm>
            <a:off x="9969500" y="51435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若 x₂ mod n == r，则签名有效，确认消息未被篡改且由私钥持有者签发。</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ECDSA核心原理与安全性分析</a:t>
            </a:r>
            <a:endParaRPr lang="en-US" sz="1100"/>
          </a:p>
        </p:txBody>
      </p:sp>
      <p:sp>
        <p:nvSpPr>
          <p:cNvPr id="3" name="AutoShape 3"/>
          <p:cNvSpPr/>
          <p:nvPr/>
        </p:nvSpPr>
        <p:spPr>
          <a:xfrm>
            <a:off x="762000" y="1651000"/>
            <a:ext cx="10668000" cy="889000"/>
          </a:xfrm>
          <a:prstGeom prst="roundRect">
            <a:avLst>
              <a:gd name="adj" fmla="val 0"/>
            </a:avLst>
          </a:prstGeom>
          <a:solidFill>
            <a:srgbClr val="00C896">
              <a:alpha val="8000"/>
            </a:srgbClr>
          </a:solidFill>
          <a:ln cap="flat" cmpd="sng">
            <a:solidFill>
              <a:srgbClr val="00AF83">
                <a:alpha val="8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952500" y="17780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ECDSA的安全性高度依赖于随机数</a:t>
            </a: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k</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的“一次性”和“不可预测性”。若同一私钥</a:t>
            </a: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d</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与同一随机数</a:t>
            </a: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k</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被用于签名不同消息，攻击者可通过数学推导直接破解私钥，导致整个签名体系彻底崩溃。</a:t>
            </a:r>
            <a:endParaRPr lang="en-US" sz="1100"/>
          </a:p>
        </p:txBody>
      </p:sp>
      <p:sp>
        <p:nvSpPr>
          <p:cNvPr id="5" name="AutoShape 5"/>
          <p:cNvSpPr/>
          <p:nvPr/>
        </p:nvSpPr>
        <p:spPr>
          <a:xfrm>
            <a:off x="762000" y="3048000"/>
            <a:ext cx="5207000" cy="1397000"/>
          </a:xfrm>
          <a:prstGeom prst="roundRect">
            <a:avLst>
              <a:gd name="adj" fmla="val 0"/>
            </a:avLst>
          </a:prstGeom>
          <a:solidFill>
            <a:srgbClr val="333333">
              <a:alpha val="3000"/>
            </a:srgbClr>
          </a:solidFill>
          <a:ln w="12700" cap="flat" cmpd="sng">
            <a:solidFill>
              <a:srgbClr val="00C896">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889000" y="3175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签名获取与基础公式构建</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对不同消息 m₁、m₂ 签名得到 (r, s₁) 与 (r, s₂)，基于ECDSA签名核心公式可得到两组等式：</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s₁ = k⁻¹(h₁ + dr) mod n， s₂ = k⁻¹(h₂ + dr) mod n</a:t>
            </a:r>
            <a:endPar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4699000"/>
            <a:ext cx="5207000" cy="1397000"/>
          </a:xfrm>
          <a:prstGeom prst="roundRect">
            <a:avLst>
              <a:gd name="adj" fmla="val 0"/>
            </a:avLst>
          </a:prstGeom>
          <a:solidFill>
            <a:srgbClr val="333333">
              <a:alpha val="3000"/>
            </a:srgbClr>
          </a:solidFill>
          <a:ln w="12700" cap="flat" cmpd="sng">
            <a:solidFill>
              <a:srgbClr val="00C896">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89000" y="4826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消元运算破解随机数 k</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将两组签名公式相减可消去 dr 项，经过简单的模逆元变形，攻击者能直接计算出随机数 k：</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k = (h₁ - h₂) / (s₁ - s₂) mod n</a:t>
            </a:r>
            <a:endPar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3048000"/>
            <a:ext cx="5207000" cy="1397000"/>
          </a:xfrm>
          <a:prstGeom prst="roundRect">
            <a:avLst>
              <a:gd name="adj" fmla="val 0"/>
            </a:avLst>
          </a:prstGeom>
          <a:solidFill>
            <a:srgbClr val="333333">
              <a:alpha val="3000"/>
            </a:srgbClr>
          </a:solidFill>
          <a:ln w="12700" cap="flat" cmpd="sng">
            <a:solidFill>
              <a:srgbClr val="00C896">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350000" y="3175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核心密钥 d 的反向求解</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k 值一旦泄露，私钥 d 便失去保护。将已得的 k 代入任意一条原始签名公式，即可反推私钥：</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d = (s₁k - h₁) / r mod n</a:t>
            </a:r>
            <a:endPar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23000" y="4699000"/>
            <a:ext cx="5207000" cy="1397000"/>
          </a:xfrm>
          <a:prstGeom prst="roundRect">
            <a:avLst>
              <a:gd name="adj" fmla="val 0"/>
            </a:avLst>
          </a:prstGeom>
          <a:solidFill>
            <a:srgbClr val="00C896">
              <a:alpha val="15000"/>
            </a:srgbClr>
          </a:solidFill>
          <a:ln w="12700" cap="flat" cmpd="sng">
            <a:solidFill>
              <a:srgbClr val="00C89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350000" y="48260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警示：不可逆的历史安全教训</a:t>
            </a:r>
            <a:endParaRPr lang="en-US" sz="1100"/>
          </a:p>
          <a:p>
            <a:pPr marL="0" indent="0" algn="l">
              <a:lnSpc>
                <a:spcPct val="117000"/>
              </a:lnSpc>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k 值重复使用是致命漏洞。索尼PS3主机曾因开发人员错误地固定 k 值，导致核心私钥被公开破解，直接造成了严重的系统安全危机，这一案例成为了密码学工程实现的经典反面教材。</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ECDSA核心原理与安全性分析</a:t>
            </a:r>
            <a:endParaRPr lang="en-US" sz="1100"/>
          </a:p>
        </p:txBody>
      </p:sp>
      <p:sp>
        <p:nvSpPr>
          <p:cNvPr id="3" name="AutoShape 3"/>
          <p:cNvSpPr/>
          <p:nvPr/>
        </p:nvSpPr>
        <p:spPr>
          <a:xfrm>
            <a:off x="762000" y="1651000"/>
            <a:ext cx="10668000" cy="8255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6200" cy="825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52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为从根源上杜绝k值重用导致的私钥泄露风险，我们采用</a:t>
            </a:r>
            <a:r>
              <a:rPr lang="en-US" sz="1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RFC 6979</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标准实现确定性k值生成，将随机数生成过程与密钥和消息哈希强绑定，规避不可靠随机源的安全隐患。</a:t>
            </a:r>
            <a:endParaRPr lang="en-US" sz="1100"/>
          </a:p>
        </p:txBody>
      </p:sp>
      <p:sp>
        <p:nvSpPr>
          <p:cNvPr id="6" name="AutoShape 6"/>
          <p:cNvSpPr/>
          <p:nvPr/>
        </p:nvSpPr>
        <p:spPr>
          <a:xfrm>
            <a:off x="762000" y="2921000"/>
            <a:ext cx="520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核心思想：去随机化绑定</a:t>
            </a:r>
            <a:endParaRPr lang="en-US" sz="1100"/>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摒弃外部不可控的随机数生成器，将k值的生成严格绑定到</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私钥d</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消息哈希h</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的组合上。对于同一(d, h)对，算法将确定性地输出唯一的k值，从逻辑上彻底消除k值重复的可能性。</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7" name="Connector 7"/>
          <p:cNvCxnSpPr/>
          <p:nvPr/>
        </p:nvCxnSpPr>
        <p:spPr>
          <a:xfrm rot="5365623">
            <a:off x="5461000" y="3613182"/>
            <a:ext cx="1270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8" name="AutoShape 8"/>
          <p:cNvSpPr/>
          <p:nvPr/>
        </p:nvSpPr>
        <p:spPr>
          <a:xfrm>
            <a:off x="6350000" y="2921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关键机制：HMAC_DRBG驱动</a:t>
            </a:r>
            <a:endParaRPr lang="en-US" sz="1100"/>
          </a:p>
          <a:p>
            <a:pPr marL="0" indent="0" algn="l">
              <a:lnSpc>
                <a:spcPct val="117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以(d, h)作为初始种子，通过密码学安全的HMAC_DRBG（基于哈希的确定性随机位生成器）迭代生成候选k值。该机制确保生成过程的伪随机性与不可预测性，同时保证结果的确定性与一致性。</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9" name="Connector 9"/>
          <p:cNvCxnSpPr/>
          <p:nvPr/>
        </p:nvCxnSpPr>
        <p:spPr>
          <a:xfrm rot="-4092">
            <a:off x="762004" y="4692650"/>
            <a:ext cx="106680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0" name="AutoShape 10"/>
          <p:cNvSpPr/>
          <p:nvPr/>
        </p:nvSpPr>
        <p:spPr>
          <a:xfrm>
            <a:off x="762000" y="5080000"/>
            <a:ext cx="3429000" cy="1270000"/>
          </a:xfrm>
          <a:prstGeom prst="roundRect">
            <a:avLst>
              <a:gd name="adj" fmla="val 0"/>
            </a:avLst>
          </a:prstGeom>
          <a:solidFill>
            <a:srgbClr val="F9FAFB">
              <a:alpha val="100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5270500"/>
            <a:ext cx="304800" cy="304800"/>
          </a:xfrm>
          <a:prstGeom prst="rect">
            <a:avLst/>
          </a:prstGeom>
        </p:spPr>
      </p:pic>
      <p:sp>
        <p:nvSpPr>
          <p:cNvPr id="12" name="AutoShape 12"/>
          <p:cNvSpPr/>
          <p:nvPr/>
        </p:nvSpPr>
        <p:spPr>
          <a:xfrm>
            <a:off x="13970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结果唯一性保障</a:t>
            </a:r>
            <a:endParaRPr lang="en-US" sz="1100"/>
          </a:p>
        </p:txBody>
      </p:sp>
      <p:cxnSp>
        <p:nvCxnSpPr>
          <p:cNvPr id="13" name="Connector 13"/>
          <p:cNvCxnSpPr/>
          <p:nvPr/>
        </p:nvCxnSpPr>
        <p:spPr>
          <a:xfrm rot="-14323">
            <a:off x="952513" y="5708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4" name="AutoShape 14"/>
          <p:cNvSpPr/>
          <p:nvPr/>
        </p:nvSpPr>
        <p:spPr>
          <a:xfrm>
            <a:off x="952500" y="58166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相同(d, h)必然产生相同k值，彻底规避随机数复用或生成不当引发的安全漏洞。</a:t>
            </a:r>
            <a:endParaRPr lang="en-US" sz="1100"/>
          </a:p>
        </p:txBody>
      </p:sp>
      <p:sp>
        <p:nvSpPr>
          <p:cNvPr id="15" name="AutoShape 15"/>
          <p:cNvSpPr/>
          <p:nvPr/>
        </p:nvSpPr>
        <p:spPr>
          <a:xfrm>
            <a:off x="4381500" y="5080000"/>
            <a:ext cx="3429000" cy="1270000"/>
          </a:xfrm>
          <a:prstGeom prst="roundRect">
            <a:avLst>
              <a:gd name="adj" fmla="val 0"/>
            </a:avLst>
          </a:prstGeom>
          <a:solidFill>
            <a:srgbClr val="F9FAFB">
              <a:alpha val="100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5270500"/>
            <a:ext cx="304800" cy="304800"/>
          </a:xfrm>
          <a:prstGeom prst="rect">
            <a:avLst/>
          </a:prstGeom>
        </p:spPr>
      </p:pic>
      <p:sp>
        <p:nvSpPr>
          <p:cNvPr id="17" name="AutoShape 17"/>
          <p:cNvSpPr/>
          <p:nvPr/>
        </p:nvSpPr>
        <p:spPr>
          <a:xfrm>
            <a:off x="50165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高强度抗推导性</a:t>
            </a:r>
            <a:endParaRPr lang="en-US" sz="1100"/>
          </a:p>
        </p:txBody>
      </p:sp>
      <p:cxnSp>
        <p:nvCxnSpPr>
          <p:cNvPr id="18" name="Connector 18"/>
          <p:cNvCxnSpPr/>
          <p:nvPr/>
        </p:nvCxnSpPr>
        <p:spPr>
          <a:xfrm rot="-14323">
            <a:off x="4572013" y="5708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9" name="AutoShape 19"/>
          <p:cNvSpPr/>
          <p:nvPr/>
        </p:nvSpPr>
        <p:spPr>
          <a:xfrm>
            <a:off x="4572000" y="58166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即使单条消息的k值泄露，攻击者也无法推导出私钥或其他消息对应的k值，安全性层级高。</a:t>
            </a:r>
            <a:endParaRPr lang="en-US" sz="1100"/>
          </a:p>
        </p:txBody>
      </p:sp>
      <p:sp>
        <p:nvSpPr>
          <p:cNvPr id="20" name="AutoShape 20"/>
          <p:cNvSpPr/>
          <p:nvPr/>
        </p:nvSpPr>
        <p:spPr>
          <a:xfrm>
            <a:off x="8001000" y="5080000"/>
            <a:ext cx="3429000" cy="1270000"/>
          </a:xfrm>
          <a:prstGeom prst="roundRect">
            <a:avLst>
              <a:gd name="adj" fmla="val 0"/>
            </a:avLst>
          </a:prstGeom>
          <a:solidFill>
            <a:srgbClr val="F9FAFB">
              <a:alpha val="100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5270500"/>
            <a:ext cx="304800" cy="304800"/>
          </a:xfrm>
          <a:prstGeom prst="rect">
            <a:avLst/>
          </a:prstGeom>
        </p:spPr>
      </p:pic>
      <p:sp>
        <p:nvSpPr>
          <p:cNvPr id="22" name="AutoShape 22"/>
          <p:cNvSpPr/>
          <p:nvPr/>
        </p:nvSpPr>
        <p:spPr>
          <a:xfrm>
            <a:off x="86360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标准化合规实践</a:t>
            </a:r>
            <a:endParaRPr lang="en-US" sz="1100"/>
          </a:p>
        </p:txBody>
      </p:sp>
      <p:cxnSp>
        <p:nvCxnSpPr>
          <p:cNvPr id="23" name="Connector 23"/>
          <p:cNvCxnSpPr/>
          <p:nvPr/>
        </p:nvCxnSpPr>
        <p:spPr>
          <a:xfrm rot="-14323">
            <a:off x="8191513" y="5708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4" name="AutoShape 24"/>
          <p:cNvSpPr/>
          <p:nvPr/>
        </p:nvSpPr>
        <p:spPr>
          <a:xfrm>
            <a:off x="8191500" y="58166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完全符合NIST、IETF等权威标准机构的推荐规范，是当前金融与密码学领域的主流最佳实践。</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78380" y="207645"/>
            <a:ext cx="7931785" cy="64420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项目整体架构与设计</a:t>
            </a:r>
            <a:endParaRPr lang="en-US" sz="1100"/>
          </a:p>
        </p:txBody>
      </p:sp>
      <p:sp>
        <p:nvSpPr>
          <p:cNvPr id="3" name="AutoShape 3"/>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我们设计了自底向上的四层架构体系，将 ECDSA 安全认证机制深度集成到系统的核心逻辑中，打通从底层网络通信到上层智能决策的全链路，构建可信、高效、可扩展的系统基座。</a:t>
            </a:r>
            <a:endParaRPr lang="en-US" sz="1100"/>
          </a:p>
        </p:txBody>
      </p:sp>
      <p:cxnSp>
        <p:nvCxnSpPr>
          <p:cNvPr id="4" name="Connector 4"/>
          <p:cNvCxnSpPr/>
          <p:nvPr/>
        </p:nvCxnSpPr>
        <p:spPr>
          <a:xfrm rot="-4092">
            <a:off x="762004" y="2216150"/>
            <a:ext cx="10668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 name="AutoShape 5"/>
          <p:cNvSpPr/>
          <p:nvPr/>
        </p:nvSpPr>
        <p:spPr>
          <a:xfrm>
            <a:off x="762000" y="2413000"/>
            <a:ext cx="2540000" cy="2667000"/>
          </a:xfrm>
          <a:prstGeom prst="roundRect">
            <a:avLst>
              <a:gd name="adj" fmla="val 0"/>
            </a:avLst>
          </a:prstGeom>
          <a:solidFill>
            <a:srgbClr val="00C896">
              <a:alpha val="5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413000"/>
            <a:ext cx="2540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667000"/>
            <a:ext cx="355600" cy="355600"/>
          </a:xfrm>
          <a:prstGeom prst="rect">
            <a:avLst/>
          </a:prstGeom>
        </p:spPr>
      </p:pic>
      <p:sp>
        <p:nvSpPr>
          <p:cNvPr id="8" name="AutoShape 8"/>
          <p:cNvSpPr/>
          <p:nvPr/>
        </p:nvSpPr>
        <p:spPr>
          <a:xfrm>
            <a:off x="1397000" y="26416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分布式网络层</a:t>
            </a:r>
            <a:endParaRPr lang="en-US" sz="1100"/>
          </a:p>
        </p:txBody>
      </p:sp>
      <p:cxnSp>
        <p:nvCxnSpPr>
          <p:cNvPr id="9" name="Connector 9"/>
          <p:cNvCxnSpPr/>
          <p:nvPr/>
        </p:nvCxnSpPr>
        <p:spPr>
          <a:xfrm rot="-20221">
            <a:off x="952519" y="3232150"/>
            <a:ext cx="215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0" name="AutoShape 10"/>
          <p:cNvSpPr/>
          <p:nvPr/>
        </p:nvSpPr>
        <p:spPr>
          <a:xfrm>
            <a:off x="889000" y="3429000"/>
            <a:ext cx="2286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作为系统的通信基石，负责节点间的底层互联。采用 P2P 节点通信模式与 Socket 传输协议，保障消息广播的实时性与网络拓扑的稳定性。</a:t>
            </a:r>
            <a:endParaRPr lang="en-US" sz="1100"/>
          </a:p>
        </p:txBody>
      </p:sp>
      <p:sp>
        <p:nvSpPr>
          <p:cNvPr id="11" name="AutoShape 11"/>
          <p:cNvSpPr/>
          <p:nvPr/>
        </p:nvSpPr>
        <p:spPr>
          <a:xfrm>
            <a:off x="3467100" y="2413000"/>
            <a:ext cx="2540000" cy="2667000"/>
          </a:xfrm>
          <a:prstGeom prst="roundRect">
            <a:avLst>
              <a:gd name="adj" fmla="val 0"/>
            </a:avLst>
          </a:prstGeom>
          <a:solidFill>
            <a:srgbClr val="00C896">
              <a:alpha val="8000"/>
            </a:srgbClr>
          </a:solidFill>
          <a:ln w="12700" cap="flat" cmpd="sng">
            <a:solidFill>
              <a:srgbClr val="00C896">
                <a:alpha val="4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467100" y="2413000"/>
            <a:ext cx="2540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0" y="2667000"/>
            <a:ext cx="355600" cy="355600"/>
          </a:xfrm>
          <a:prstGeom prst="rect">
            <a:avLst/>
          </a:prstGeom>
        </p:spPr>
      </p:pic>
      <p:sp>
        <p:nvSpPr>
          <p:cNvPr id="14" name="AutoShape 14"/>
          <p:cNvSpPr/>
          <p:nvPr/>
        </p:nvSpPr>
        <p:spPr>
          <a:xfrm>
            <a:off x="4102100" y="26416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区块链核心层</a:t>
            </a:r>
            <a:endParaRPr lang="en-US" sz="1100"/>
          </a:p>
        </p:txBody>
      </p:sp>
      <p:cxnSp>
        <p:nvCxnSpPr>
          <p:cNvPr id="15" name="Connector 15"/>
          <p:cNvCxnSpPr/>
          <p:nvPr/>
        </p:nvCxnSpPr>
        <p:spPr>
          <a:xfrm rot="-20221">
            <a:off x="3657619" y="3232150"/>
            <a:ext cx="215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6" name="AutoShape 16"/>
          <p:cNvSpPr/>
          <p:nvPr/>
        </p:nvSpPr>
        <p:spPr>
          <a:xfrm>
            <a:off x="3594100" y="3429000"/>
            <a:ext cx="2286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系统的信任中枢，集成共识引擎与分布式账本。核心引入</a:t>
            </a:r>
            <a:r>
              <a:rPr lang="en-US" sz="13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 安全认证</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机制，对智能体行为数据进行签名校验，确保链上数据的不可篡改性与真实性。</a:t>
            </a:r>
            <a:endParaRPr lang="en-US" sz="1100"/>
          </a:p>
        </p:txBody>
      </p:sp>
      <p:sp>
        <p:nvSpPr>
          <p:cNvPr id="17" name="AutoShape 17"/>
          <p:cNvSpPr/>
          <p:nvPr/>
        </p:nvSpPr>
        <p:spPr>
          <a:xfrm>
            <a:off x="6172200" y="2413000"/>
            <a:ext cx="2540000" cy="2667000"/>
          </a:xfrm>
          <a:prstGeom prst="roundRect">
            <a:avLst>
              <a:gd name="adj" fmla="val 0"/>
            </a:avLst>
          </a:prstGeom>
          <a:solidFill>
            <a:srgbClr val="00C896">
              <a:alpha val="5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172200" y="2413000"/>
            <a:ext cx="2540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62700" y="2667000"/>
            <a:ext cx="355600" cy="355600"/>
          </a:xfrm>
          <a:prstGeom prst="rect">
            <a:avLst/>
          </a:prstGeom>
        </p:spPr>
      </p:pic>
      <p:sp>
        <p:nvSpPr>
          <p:cNvPr id="20" name="AutoShape 20"/>
          <p:cNvSpPr/>
          <p:nvPr/>
        </p:nvSpPr>
        <p:spPr>
          <a:xfrm>
            <a:off x="6807200" y="26416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MARL 协同层</a:t>
            </a:r>
            <a:endParaRPr lang="en-US" sz="1100"/>
          </a:p>
        </p:txBody>
      </p:sp>
      <p:cxnSp>
        <p:nvCxnSpPr>
          <p:cNvPr id="21" name="Connector 21"/>
          <p:cNvCxnSpPr/>
          <p:nvPr/>
        </p:nvCxnSpPr>
        <p:spPr>
          <a:xfrm rot="-20221">
            <a:off x="6362719" y="3232150"/>
            <a:ext cx="215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2" name="AutoShape 22"/>
          <p:cNvSpPr/>
          <p:nvPr/>
        </p:nvSpPr>
        <p:spPr>
          <a:xfrm>
            <a:off x="6299200" y="3429000"/>
            <a:ext cx="2286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基于多智能体强化学习的决策核心。融合奖励融合引擎与可信信息接入模块，利用区块链层的可信数据优化策略模型，实现全局协作与收益最大化。</a:t>
            </a:r>
            <a:endParaRPr lang="en-US" sz="1100"/>
          </a:p>
        </p:txBody>
      </p:sp>
      <p:sp>
        <p:nvSpPr>
          <p:cNvPr id="23" name="AutoShape 23"/>
          <p:cNvSpPr/>
          <p:nvPr/>
        </p:nvSpPr>
        <p:spPr>
          <a:xfrm>
            <a:off x="8890000" y="2413000"/>
            <a:ext cx="2540000" cy="2667000"/>
          </a:xfrm>
          <a:prstGeom prst="roundRect">
            <a:avLst>
              <a:gd name="adj" fmla="val 0"/>
            </a:avLst>
          </a:prstGeom>
          <a:solidFill>
            <a:srgbClr val="00C896">
              <a:alpha val="5000"/>
            </a:srgbClr>
          </a:solidFill>
          <a:ln w="12700" cap="flat" cmpd="sng">
            <a:solidFill>
              <a:srgbClr val="00C896">
                <a:alpha val="2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8890000" y="2413000"/>
            <a:ext cx="2540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2667000"/>
            <a:ext cx="355600" cy="355600"/>
          </a:xfrm>
          <a:prstGeom prst="rect">
            <a:avLst/>
          </a:prstGeom>
        </p:spPr>
      </p:pic>
      <p:sp>
        <p:nvSpPr>
          <p:cNvPr id="26" name="AutoShape 26"/>
          <p:cNvSpPr/>
          <p:nvPr/>
        </p:nvSpPr>
        <p:spPr>
          <a:xfrm>
            <a:off x="9525000" y="26416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应用展示层</a:t>
            </a:r>
            <a:endParaRPr lang="en-US" sz="1100"/>
          </a:p>
        </p:txBody>
      </p:sp>
      <p:cxnSp>
        <p:nvCxnSpPr>
          <p:cNvPr id="27" name="Connector 27"/>
          <p:cNvCxnSpPr/>
          <p:nvPr/>
        </p:nvCxnSpPr>
        <p:spPr>
          <a:xfrm rot="-20221">
            <a:off x="9080519" y="3232150"/>
            <a:ext cx="215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8" name="AutoShape 28"/>
          <p:cNvSpPr/>
          <p:nvPr/>
        </p:nvSpPr>
        <p:spPr>
          <a:xfrm>
            <a:off x="9017000" y="3429000"/>
            <a:ext cx="2286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面向用户的交互终端，提供可视化监控面板、智能体状态看板及系统性能仪表盘。直观呈现系统运行状态与核心指标，支持实时的决策干预与参数调整。</a:t>
            </a:r>
            <a:endParaRPr lang="en-US" sz="1100"/>
          </a:p>
        </p:txBody>
      </p:sp>
      <p:sp>
        <p:nvSpPr>
          <p:cNvPr id="29" name="AutoShape 29"/>
          <p:cNvSpPr/>
          <p:nvPr/>
        </p:nvSpPr>
        <p:spPr>
          <a:xfrm>
            <a:off x="762000" y="5461000"/>
            <a:ext cx="10668000" cy="1016000"/>
          </a:xfrm>
          <a:prstGeom prst="roundRect">
            <a:avLst>
              <a:gd name="adj" fmla="val 0"/>
            </a:avLst>
          </a:prstGeom>
          <a:solidFill>
            <a:srgbClr val="333333">
              <a:alpha val="3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762000" y="5461000"/>
            <a:ext cx="50800" cy="1016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1016000" y="558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全链路数据流转逻辑：</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智能体行为数据经</a:t>
            </a:r>
            <a:r>
              <a:rPr lang="en-US" sz="14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 签名</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确权后，通过分布式网络层传输至区块链核心层完成验证上链；可信的全局数据再为 MARL 协同层提供精准激励信号，形成 “采集-认证-存储-赋能” 的闭环。</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项目整体架构与设计</a:t>
            </a:r>
            <a:endParaRPr lang="en-US" sz="1100"/>
          </a:p>
        </p:txBody>
      </p:sp>
      <p:sp>
        <p:nvSpPr>
          <p:cNvPr id="3" name="AutoShape 3"/>
          <p:cNvSpPr/>
          <p:nvPr/>
        </p:nvSpPr>
        <p:spPr>
          <a:xfrm>
            <a:off x="762000" y="1397000"/>
            <a:ext cx="762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ECDSA在系统中的核心应用：构建分布式智能体网络的“信任基石”</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6" name="AutoShape 6"/>
          <p:cNvSpPr/>
          <p:nvPr/>
        </p:nvSpPr>
        <p:spPr>
          <a:xfrm>
            <a:off x="762000" y="2921000"/>
            <a:ext cx="3378200" cy="3302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33782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175000"/>
            <a:ext cx="457200" cy="457200"/>
          </a:xfrm>
          <a:prstGeom prst="rect">
            <a:avLst/>
          </a:prstGeom>
        </p:spPr>
      </p:pic>
      <p:sp>
        <p:nvSpPr>
          <p:cNvPr id="9" name="AutoShape 9"/>
          <p:cNvSpPr/>
          <p:nvPr/>
        </p:nvSpPr>
        <p:spPr>
          <a:xfrm>
            <a:off x="1600200" y="31750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身份认证</a:t>
            </a:r>
            <a:endParaRPr lang="en-US" sz="1100"/>
          </a:p>
        </p:txBody>
      </p:sp>
      <p:cxnSp>
        <p:nvCxnSpPr>
          <p:cNvPr id="10" name="Connector 10"/>
          <p:cNvCxnSpPr/>
          <p:nvPr/>
        </p:nvCxnSpPr>
        <p:spPr>
          <a:xfrm rot="-15211">
            <a:off x="1016014" y="3930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1" name="AutoShape 11"/>
          <p:cNvSpPr/>
          <p:nvPr/>
        </p:nvSpPr>
        <p:spPr>
          <a:xfrm>
            <a:off x="1016000" y="4191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智能体入网前需通过私钥对注册信息签名，网络节点通过验证签名确认身份合法性，从源头杜绝恶意节点冒充与非法接入，保障网络参与主体的可信性。</a:t>
            </a:r>
            <a:endParaRPr lang="en-US" sz="1100"/>
          </a:p>
        </p:txBody>
      </p:sp>
      <p:sp>
        <p:nvSpPr>
          <p:cNvPr id="12" name="AutoShape 12"/>
          <p:cNvSpPr/>
          <p:nvPr/>
        </p:nvSpPr>
        <p:spPr>
          <a:xfrm>
            <a:off x="4394200" y="2921000"/>
            <a:ext cx="3378200" cy="3302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2921000"/>
            <a:ext cx="33782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3175000"/>
            <a:ext cx="457200" cy="457200"/>
          </a:xfrm>
          <a:prstGeom prst="rect">
            <a:avLst/>
          </a:prstGeom>
        </p:spPr>
      </p:pic>
      <p:sp>
        <p:nvSpPr>
          <p:cNvPr id="15" name="AutoShape 15"/>
          <p:cNvSpPr/>
          <p:nvPr/>
        </p:nvSpPr>
        <p:spPr>
          <a:xfrm>
            <a:off x="5232400" y="31750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数据完整性</a:t>
            </a:r>
            <a:endParaRPr lang="en-US" sz="1100"/>
          </a:p>
        </p:txBody>
      </p:sp>
      <p:cxnSp>
        <p:nvCxnSpPr>
          <p:cNvPr id="16" name="Connector 16"/>
          <p:cNvCxnSpPr/>
          <p:nvPr/>
        </p:nvCxnSpPr>
        <p:spPr>
          <a:xfrm rot="-15211">
            <a:off x="4648214" y="3930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7" name="AutoShape 17"/>
          <p:cNvSpPr/>
          <p:nvPr/>
        </p:nvSpPr>
        <p:spPr>
          <a:xfrm>
            <a:off x="4648200" y="4191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智能体传输的动作指令、环境观测等所有消息均附带ECDSA签名，接收方通过验签确保数据在网络传输链路中未被篡改或伪造，保障数据流转的一致性。</a:t>
            </a:r>
            <a:endParaRPr lang="en-US" sz="1100"/>
          </a:p>
        </p:txBody>
      </p:sp>
      <p:sp>
        <p:nvSpPr>
          <p:cNvPr id="18" name="AutoShape 18"/>
          <p:cNvSpPr/>
          <p:nvPr/>
        </p:nvSpPr>
        <p:spPr>
          <a:xfrm>
            <a:off x="8026400" y="2921000"/>
            <a:ext cx="3378200" cy="3302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2921000"/>
            <a:ext cx="33782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175000"/>
            <a:ext cx="457200" cy="457200"/>
          </a:xfrm>
          <a:prstGeom prst="rect">
            <a:avLst/>
          </a:prstGeom>
        </p:spPr>
      </p:pic>
      <p:sp>
        <p:nvSpPr>
          <p:cNvPr id="21" name="AutoShape 21"/>
          <p:cNvSpPr/>
          <p:nvPr/>
        </p:nvSpPr>
        <p:spPr>
          <a:xfrm>
            <a:off x="8864600" y="31750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不可否认性</a:t>
            </a:r>
            <a:endParaRPr lang="en-US" sz="1100"/>
          </a:p>
        </p:txBody>
      </p:sp>
      <p:cxnSp>
        <p:nvCxnSpPr>
          <p:cNvPr id="22" name="Connector 22"/>
          <p:cNvCxnSpPr/>
          <p:nvPr/>
        </p:nvCxnSpPr>
        <p:spPr>
          <a:xfrm rot="-15211">
            <a:off x="8280414" y="3930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23" name="AutoShape 23"/>
          <p:cNvSpPr/>
          <p:nvPr/>
        </p:nvSpPr>
        <p:spPr>
          <a:xfrm>
            <a:off x="8280400" y="4191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所有链上行为记录均绑定发送方签名，签名与私钥唯一对应且可公开验证。在发生行为争议时，可通过链上存证的签名追溯行为主体，确保行为责任可界定、不可抵赖。</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项目整体架构与设计</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159000"/>
            <a:ext cx="2476500" cy="3302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159000"/>
            <a:ext cx="24765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2413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初始化与注册</a:t>
            </a:r>
            <a:endParaRPr lang="en-US" sz="1100"/>
          </a:p>
        </p:txBody>
      </p:sp>
      <p:cxnSp>
        <p:nvCxnSpPr>
          <p:cNvPr id="7" name="Connector 7"/>
          <p:cNvCxnSpPr/>
          <p:nvPr/>
        </p:nvCxnSpPr>
        <p:spPr>
          <a:xfrm rot="-20834">
            <a:off x="952519" y="3105150"/>
            <a:ext cx="2095500" cy="12700"/>
          </a:xfrm>
          <a:prstGeom prst="straightConnector1">
            <a:avLst/>
          </a:prstGeom>
          <a:solidFill>
            <a:srgbClr val="DEE0E3">
              <a:alpha val="100000"/>
            </a:srgbClr>
          </a:solidFill>
          <a:ln w="12700" cap="flat" cmpd="sng">
            <a:solidFill>
              <a:srgbClr val="00C896">
                <a:alpha val="40000"/>
              </a:srgbClr>
            </a:solidFill>
            <a:prstDash val="dash"/>
            <a:round/>
            <a:headEnd type="none" w="med" len="med"/>
            <a:tailEnd type="none" w="med" len="med"/>
          </a:ln>
        </p:spPr>
      </p:cxnSp>
      <p:sp>
        <p:nvSpPr>
          <p:cNvPr id="8" name="AutoShape 8"/>
          <p:cNvSpPr/>
          <p:nvPr/>
        </p:nvSpPr>
        <p:spPr>
          <a:xfrm>
            <a:off x="952500" y="3365500"/>
            <a:ext cx="209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智能体本地生成ECDSA非对称密钥对，将公钥与签名后的注册信息上链，完成链上身份认证与注册，构建可信身份基础。</a:t>
            </a:r>
            <a:endParaRPr lang="en-US" sz="1100"/>
          </a:p>
        </p:txBody>
      </p:sp>
      <p:sp>
        <p:nvSpPr>
          <p:cNvPr id="9" name="AutoShape 9"/>
          <p:cNvSpPr/>
          <p:nvPr/>
        </p:nvSpPr>
        <p:spPr>
          <a:xfrm>
            <a:off x="3492500" y="2159000"/>
            <a:ext cx="2476500" cy="3302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492500" y="2159000"/>
            <a:ext cx="24765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683000" y="2413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决策、签名与广播</a:t>
            </a:r>
            <a:endParaRPr lang="en-US" sz="1100"/>
          </a:p>
        </p:txBody>
      </p:sp>
      <p:cxnSp>
        <p:nvCxnSpPr>
          <p:cNvPr id="12" name="Connector 12"/>
          <p:cNvCxnSpPr/>
          <p:nvPr/>
        </p:nvCxnSpPr>
        <p:spPr>
          <a:xfrm rot="-20834">
            <a:off x="3683019" y="3105150"/>
            <a:ext cx="2095500" cy="12700"/>
          </a:xfrm>
          <a:prstGeom prst="straightConnector1">
            <a:avLst/>
          </a:prstGeom>
          <a:solidFill>
            <a:srgbClr val="DEE0E3">
              <a:alpha val="100000"/>
            </a:srgbClr>
          </a:solidFill>
          <a:ln w="12700" cap="flat" cmpd="sng">
            <a:solidFill>
              <a:srgbClr val="00C896">
                <a:alpha val="40000"/>
              </a:srgbClr>
            </a:solidFill>
            <a:prstDash val="dash"/>
            <a:round/>
            <a:headEnd type="none" w="med" len="med"/>
            <a:tailEnd type="none" w="med" len="med"/>
          </a:ln>
        </p:spPr>
      </p:cxnSp>
      <p:sp>
        <p:nvSpPr>
          <p:cNvPr id="13" name="AutoShape 13"/>
          <p:cNvSpPr/>
          <p:nvPr/>
        </p:nvSpPr>
        <p:spPr>
          <a:xfrm>
            <a:off x="3683000" y="3365500"/>
            <a:ext cx="209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基于MARL策略生成动作决策，使用私钥对「决策哈希+时间戳」进行数字签名，确保数据不可篡改，随后将「决策+签名」广播至分布式网络。</a:t>
            </a:r>
            <a:endParaRPr lang="en-US" sz="1100"/>
          </a:p>
        </p:txBody>
      </p:sp>
      <p:sp>
        <p:nvSpPr>
          <p:cNvPr id="14" name="AutoShape 14"/>
          <p:cNvSpPr/>
          <p:nvPr/>
        </p:nvSpPr>
        <p:spPr>
          <a:xfrm>
            <a:off x="6223000" y="2159000"/>
            <a:ext cx="2476500" cy="3302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2159000"/>
            <a:ext cx="24765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2413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验证、共识与上链</a:t>
            </a:r>
            <a:endParaRPr lang="en-US" sz="1100"/>
          </a:p>
        </p:txBody>
      </p:sp>
      <p:cxnSp>
        <p:nvCxnSpPr>
          <p:cNvPr id="17" name="Connector 17"/>
          <p:cNvCxnSpPr/>
          <p:nvPr/>
        </p:nvCxnSpPr>
        <p:spPr>
          <a:xfrm rot="-20834">
            <a:off x="6413519" y="3105150"/>
            <a:ext cx="2095500" cy="12700"/>
          </a:xfrm>
          <a:prstGeom prst="straightConnector1">
            <a:avLst/>
          </a:prstGeom>
          <a:solidFill>
            <a:srgbClr val="DEE0E3">
              <a:alpha val="100000"/>
            </a:srgbClr>
          </a:solidFill>
          <a:ln w="12700" cap="flat" cmpd="sng">
            <a:solidFill>
              <a:srgbClr val="00C896">
                <a:alpha val="40000"/>
              </a:srgbClr>
            </a:solidFill>
            <a:prstDash val="dash"/>
            <a:round/>
            <a:headEnd type="none" w="med" len="med"/>
            <a:tailEnd type="none" w="med" len="med"/>
          </a:ln>
        </p:spPr>
      </p:cxnSp>
      <p:sp>
        <p:nvSpPr>
          <p:cNvPr id="18" name="AutoShape 18"/>
          <p:cNvSpPr/>
          <p:nvPr/>
        </p:nvSpPr>
        <p:spPr>
          <a:xfrm>
            <a:off x="6413500" y="3365500"/>
            <a:ext cx="209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共识节点核验签名有效性，验证通过后将本轮决策打包为区块，通过分布式共识机制达成全网一致，将可信数据永久上链存储。</a:t>
            </a:r>
            <a:endParaRPr lang="en-US" sz="1100"/>
          </a:p>
        </p:txBody>
      </p:sp>
      <p:sp>
        <p:nvSpPr>
          <p:cNvPr id="19" name="AutoShape 19"/>
          <p:cNvSpPr/>
          <p:nvPr/>
        </p:nvSpPr>
        <p:spPr>
          <a:xfrm>
            <a:off x="8953500" y="2159000"/>
            <a:ext cx="2476500" cy="33020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953500" y="2159000"/>
            <a:ext cx="24765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144000" y="2413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激励结算与更新</a:t>
            </a:r>
            <a:endParaRPr lang="en-US" sz="1100"/>
          </a:p>
        </p:txBody>
      </p:sp>
      <p:cxnSp>
        <p:nvCxnSpPr>
          <p:cNvPr id="22" name="Connector 22"/>
          <p:cNvCxnSpPr/>
          <p:nvPr/>
        </p:nvCxnSpPr>
        <p:spPr>
          <a:xfrm rot="-20834">
            <a:off x="9144019" y="3105150"/>
            <a:ext cx="2095500" cy="12700"/>
          </a:xfrm>
          <a:prstGeom prst="straightConnector1">
            <a:avLst/>
          </a:prstGeom>
          <a:solidFill>
            <a:srgbClr val="DEE0E3">
              <a:alpha val="100000"/>
            </a:srgbClr>
          </a:solidFill>
          <a:ln w="12700" cap="flat" cmpd="sng">
            <a:solidFill>
              <a:srgbClr val="00C896">
                <a:alpha val="40000"/>
              </a:srgbClr>
            </a:solidFill>
            <a:prstDash val="dash"/>
            <a:round/>
            <a:headEnd type="none" w="med" len="med"/>
            <a:tailEnd type="none" w="med" len="med"/>
          </a:ln>
        </p:spPr>
      </p:cxnSp>
      <p:sp>
        <p:nvSpPr>
          <p:cNvPr id="23" name="AutoShape 23"/>
          <p:cNvSpPr/>
          <p:nvPr/>
        </p:nvSpPr>
        <p:spPr>
          <a:xfrm>
            <a:off x="9144000" y="3365500"/>
            <a:ext cx="2095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智能合约自动核算贡献度并执行激励结算；MARL模块读取链上可信数据与激励结果，迭代优化策略模型，形成闭环进化体系。</a:t>
            </a:r>
            <a:endParaRPr lang="en-US" sz="1100"/>
          </a:p>
        </p:txBody>
      </p:sp>
      <p:sp>
        <p:nvSpPr>
          <p:cNvPr id="24" name="AutoShape 24"/>
          <p:cNvSpPr/>
          <p:nvPr/>
        </p:nvSpPr>
        <p:spPr>
          <a:xfrm>
            <a:off x="762000" y="5842000"/>
            <a:ext cx="10668000" cy="6985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5842000"/>
            <a:ext cx="50800" cy="698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59436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流程闭环核心：</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通过“链上身份-安全签名-共识验证-自动激励-策略迭代”的全链路设计，实现智能体系统的可信协作与自主进化。</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核心模块实现与技术细节</a:t>
            </a:r>
            <a:endParaRPr lang="en-US" sz="1100"/>
          </a:p>
        </p:txBody>
      </p:sp>
      <p:sp>
        <p:nvSpPr>
          <p:cNvPr id="3" name="AutoShape 3"/>
          <p:cNvSpPr/>
          <p:nvPr/>
        </p:nvSpPr>
        <p:spPr>
          <a:xfrm>
            <a:off x="762000" y="1397000"/>
            <a:ext cx="762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Python 生态成熟的 `cryptography` 密码学库，我们封装了符合 RFC 6979 标准的 ECDSA 工具类，实现了密钥生成、确定性签名与验签的核心功能，确保签名过程的安全性与一致性。</a:t>
            </a:r>
            <a:endParaRPr lang="en-US" sz="1100"/>
          </a:p>
        </p:txBody>
      </p:sp>
      <p:cxnSp>
        <p:nvCxnSpPr>
          <p:cNvPr id="5" name="Connector 5"/>
          <p:cNvCxnSpPr/>
          <p:nvPr/>
        </p:nvCxnSpPr>
        <p:spPr>
          <a:xfrm rot="5389582">
            <a:off x="4127500" y="3994160"/>
            <a:ext cx="4191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6" name="AutoShape 6"/>
          <p:cNvSpPr/>
          <p:nvPr/>
        </p:nvSpPr>
        <p:spPr>
          <a:xfrm>
            <a:off x="762000" y="3175000"/>
            <a:ext cx="5207000" cy="10795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175000"/>
            <a:ext cx="50800" cy="1079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365500"/>
            <a:ext cx="355600" cy="355600"/>
          </a:xfrm>
          <a:prstGeom prst="rect">
            <a:avLst/>
          </a:prstGeom>
        </p:spPr>
      </p:pic>
      <p:sp>
        <p:nvSpPr>
          <p:cNvPr id="9" name="AutoShape 9"/>
          <p:cNvSpPr/>
          <p:nvPr/>
        </p:nvSpPr>
        <p:spPr>
          <a:xfrm>
            <a:off x="1524000" y="3302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 RFC 6979 确定性签名标准</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摒弃随机数生成器可能带来的安全风险，通过消息哈希与私钥确定性生成 k 值，保证同一消息、同一私钥始终生成相同签名，提升算法抗攻击性。</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572000"/>
            <a:ext cx="5207000" cy="1079500"/>
          </a:xfrm>
          <a:prstGeom prst="roundRect">
            <a:avLst>
              <a:gd name="adj" fmla="val 0"/>
            </a:avLst>
          </a:prstGeom>
          <a:solidFill>
            <a:srgbClr val="00C89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572000"/>
            <a:ext cx="50800" cy="1079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762500"/>
            <a:ext cx="355600" cy="355600"/>
          </a:xfrm>
          <a:prstGeom prst="rect">
            <a:avLst/>
          </a:prstGeom>
        </p:spPr>
      </p:pic>
      <p:sp>
        <p:nvSpPr>
          <p:cNvPr id="13" name="AutoShape 13"/>
          <p:cNvSpPr/>
          <p:nvPr/>
        </p:nvSpPr>
        <p:spPr>
          <a:xfrm>
            <a:off x="1524000" y="4699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 NIST P-256 曲线与 SHA-256 哈希</a:t>
            </a:r>
            <a:endParaRPr lang="en-US" sz="1100"/>
          </a:p>
          <a:p>
            <a:pPr marL="0" indent="0" algn="l">
              <a:lnSpc>
                <a:spcPct val="108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采用工业级标准的 secp256r1 椭圆曲线，结合 SHA-256 哈希算法，在保证计算效率的同时提供高强度的安全保障，适配主流密码学应用场景。</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477000" y="1905000"/>
            <a:ext cx="5080000" cy="36830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67500" y="2032000"/>
            <a:ext cx="127000" cy="1270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921500" y="2032000"/>
            <a:ext cx="127000" cy="1270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175500" y="2032000"/>
            <a:ext cx="127000" cy="1270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0" y="19685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ecdsa_core.py — Python</a:t>
            </a:r>
            <a:endParaRPr lang="en-US" sz="1100"/>
          </a:p>
        </p:txBody>
      </p:sp>
      <p:cxnSp>
        <p:nvCxnSpPr>
          <p:cNvPr id="19" name="Connector 19"/>
          <p:cNvCxnSpPr/>
          <p:nvPr/>
        </p:nvCxnSpPr>
        <p:spPr>
          <a:xfrm rot="-8594">
            <a:off x="6477008" y="2406650"/>
            <a:ext cx="5080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0" name="AutoShape 20"/>
          <p:cNvSpPr/>
          <p:nvPr/>
        </p:nvSpPr>
        <p:spPr>
          <a:xfrm>
            <a:off x="6604000" y="2540000"/>
            <a:ext cx="4826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79C6"/>
                </a:solidFill>
                <a:latin typeface="Consolas" panose="020B0609020204030204"/>
                <a:ea typeface="Consolas" panose="020B0609020204030204"/>
                <a:cs typeface="Consolas" panose="020B0609020204030204"/>
                <a:sym typeface="Consolas" panose="020B0609020204030204"/>
              </a:rPr>
              <a:t>class</a:t>
            </a: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ECDSA:</a:t>
            </a:r>
            <a:endParaRPr lang="en-US" sz="1100"/>
          </a:p>
          <a:p>
            <a:pPr marL="0" indent="0" algn="l">
              <a:lnSpc>
                <a:spcPct val="117000"/>
              </a:lnSpc>
            </a:pPr>
            <a:r>
              <a:rPr lang="en-US" sz="1200" b="0" i="0" u="none" strike="noStrike">
                <a:solidFill>
                  <a:srgbClr val="FF79C6"/>
                </a:solidFill>
                <a:latin typeface="Consolas" panose="020B0609020204030204"/>
                <a:ea typeface="Consolas" panose="020B0609020204030204"/>
                <a:cs typeface="Consolas" panose="020B0609020204030204"/>
                <a:sym typeface="Consolas" panose="020B0609020204030204"/>
              </a:rPr>
              <a:t>def</a:t>
            </a:r>
            <a:r>
              <a:rPr lang="en-US" sz="1200" b="0" i="0" u="none" strike="noStrike">
                <a:solidFill>
                  <a:srgbClr val="F1FA8C"/>
                </a:solidFill>
                <a:latin typeface="Consolas" panose="020B0609020204030204"/>
                <a:ea typeface="Consolas" panose="020B0609020204030204"/>
                <a:cs typeface="Consolas" panose="020B0609020204030204"/>
                <a:sym typeface="Consolas" panose="020B0609020204030204"/>
              </a:rPr>
              <a:t>__init__</a:t>
            </a: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(self):</a:t>
            </a:r>
            <a:endPar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self.curve = ec.SECP256R1()</a:t>
            </a: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NIST P-256 标准曲线</a:t>
            </a:r>
            <a:endPar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self.private_key = ec.generate_private_key(self.curve)</a:t>
            </a:r>
            <a:endPar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FF79C6"/>
                </a:solidFill>
                <a:latin typeface="Consolas" panose="020B0609020204030204"/>
                <a:ea typeface="Consolas" panose="020B0609020204030204"/>
                <a:cs typeface="Consolas" panose="020B0609020204030204"/>
                <a:sym typeface="Consolas" panose="020B0609020204030204"/>
              </a:rPr>
              <a:t>def</a:t>
            </a:r>
            <a:r>
              <a:rPr lang="en-US" sz="1200" b="0" i="0" u="none" strike="noStrike">
                <a:solidFill>
                  <a:srgbClr val="F1FA8C"/>
                </a:solidFill>
                <a:latin typeface="Consolas" panose="020B0609020204030204"/>
                <a:ea typeface="Consolas" panose="020B0609020204030204"/>
                <a:cs typeface="Consolas" panose="020B0609020204030204"/>
                <a:sym typeface="Consolas" panose="020B0609020204030204"/>
              </a:rPr>
              <a:t>sign</a:t>
            </a: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(self, msg):</a:t>
            </a:r>
            <a:endPar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sig = self.private_key.sign(msg.encode(), ec.ECDSA(hashes.SHA256()))</a:t>
            </a:r>
            <a:endPar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FF79C6"/>
                </a:solidFill>
                <a:latin typeface="Consolas" panose="020B0609020204030204"/>
                <a:ea typeface="Consolas" panose="020B0609020204030204"/>
                <a:cs typeface="Consolas" panose="020B0609020204030204"/>
                <a:sym typeface="Consolas" panose="020B0609020204030204"/>
              </a:rPr>
              <a:t>return</a:t>
            </a:r>
            <a:r>
              <a:rPr lang="en-US" sz="1200" b="0" i="0" u="none" strike="noStrike">
                <a:solidFill>
                  <a:srgbClr val="FFFFFF"/>
                </a:solidFill>
                <a:latin typeface="Consolas" panose="020B0609020204030204"/>
                <a:ea typeface="Consolas" panose="020B0609020204030204"/>
                <a:cs typeface="Consolas" panose="020B0609020204030204"/>
                <a:sym typeface="Consolas" panose="020B0609020204030204"/>
              </a:rPr>
              <a:t>sig.hex()</a:t>
            </a: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输出十六进制签名</a:t>
            </a:r>
            <a:endPar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p:txBody>
      </p:sp>
      <p:sp>
        <p:nvSpPr>
          <p:cNvPr id="21" name="AutoShape 21"/>
          <p:cNvSpPr/>
          <p:nvPr/>
        </p:nvSpPr>
        <p:spPr>
          <a:xfrm>
            <a:off x="6477000" y="5778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核心逻辑封装为简洁的类方法，`sign` 方法自动处理 RFC 6979 确定性 k 值生成，`verify` 方法支持 PEM 格式公钥加载与签名校验，易于集成与扩展。</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核心模块实现与技术细节</a:t>
            </a:r>
            <a:endParaRPr lang="en-US" sz="1100"/>
          </a:p>
        </p:txBody>
      </p:sp>
      <p:sp>
        <p:nvSpPr>
          <p:cNvPr id="3" name="AutoShape 3"/>
          <p:cNvSpPr/>
          <p:nvPr/>
        </p:nvSpPr>
        <p:spPr>
          <a:xfrm>
            <a:off x="762000" y="1333500"/>
            <a:ext cx="10668000" cy="25400"/>
          </a:xfrm>
          <a:prstGeom prst="roundRect">
            <a:avLst>
              <a:gd name="adj" fmla="val 0"/>
            </a:avLst>
          </a:prstGeom>
          <a:solidFill>
            <a:srgbClr val="00C896">
              <a:alpha val="4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5842000" cy="3302000"/>
          </a:xfrm>
          <a:prstGeom prst="roundRect">
            <a:avLst>
              <a:gd name="adj" fmla="val 0"/>
            </a:avLst>
          </a:prstGeom>
          <a:solidFill>
            <a:srgbClr val="F8F8F8">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842000" cy="4064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28800"/>
            <a:ext cx="558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C896"/>
                </a:solidFill>
                <a:latin typeface="Roboto Mono"/>
                <a:ea typeface="Roboto Mono"/>
                <a:cs typeface="Roboto Mono"/>
                <a:sym typeface="Roboto Mono"/>
              </a:rPr>
              <a:t>// 链上身份管理智能合约核心逻辑 (AgentIdentity.sol)</a:t>
            </a:r>
            <a:endParaRPr lang="en-US" sz="1100"/>
          </a:p>
        </p:txBody>
      </p:sp>
      <p:sp>
        <p:nvSpPr>
          <p:cNvPr id="7" name="AutoShape 7"/>
          <p:cNvSpPr/>
          <p:nvPr/>
        </p:nvSpPr>
        <p:spPr>
          <a:xfrm>
            <a:off x="889000" y="2413000"/>
            <a:ext cx="5588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55555"/>
                </a:solidFill>
                <a:latin typeface="Roboto Mono"/>
                <a:ea typeface="Roboto Mono"/>
                <a:cs typeface="Roboto Mono"/>
                <a:sym typeface="Roboto Mono"/>
              </a:rPr>
              <a:t>// 核心映射：智能体ID与公钥/状态的绑定</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00C896"/>
                </a:solidFill>
                <a:latin typeface="Roboto Mono"/>
                <a:ea typeface="Roboto Mono"/>
                <a:cs typeface="Roboto Mono"/>
                <a:sym typeface="Roboto Mono"/>
              </a:rPr>
              <a:t>mapping</a:t>
            </a:r>
            <a:r>
              <a:rPr lang="en-US" sz="1200" b="0" i="0" u="none" strike="noStrike">
                <a:solidFill>
                  <a:srgbClr val="333333"/>
                </a:solidFill>
                <a:latin typeface="Roboto Mono"/>
                <a:ea typeface="Roboto Mono"/>
                <a:cs typeface="Roboto Mono"/>
                <a:sym typeface="Roboto Mono"/>
              </a:rPr>
              <a:t>(string =&gt; string) public agentPublicKeys;</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00C896"/>
                </a:solidFill>
                <a:latin typeface="Roboto Mono"/>
                <a:ea typeface="Roboto Mono"/>
                <a:cs typeface="Roboto Mono"/>
                <a:sym typeface="Roboto Mono"/>
              </a:rPr>
              <a:t>mapping</a:t>
            </a:r>
            <a:r>
              <a:rPr lang="en-US" sz="1200" b="0" i="0" u="none" strike="noStrike">
                <a:solidFill>
                  <a:srgbClr val="333333"/>
                </a:solidFill>
                <a:latin typeface="Roboto Mono"/>
                <a:ea typeface="Roboto Mono"/>
                <a:cs typeface="Roboto Mono"/>
                <a:sym typeface="Roboto Mono"/>
              </a:rPr>
              <a:t>(string =&gt; uint8) public agentStatus; // 0:normal, 1:banned</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969696"/>
                </a:solidFill>
                <a:latin typeface="Roboto Mono"/>
                <a:ea typeface="Roboto Mono"/>
                <a:cs typeface="Roboto Mono"/>
                <a:sym typeface="Roboto Mono"/>
              </a:rPr>
              <a:t>// 注册函数：验证ID唯一性，写入公钥并触发事件</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00C896"/>
                </a:solidFill>
                <a:latin typeface="Roboto Mono"/>
                <a:ea typeface="Roboto Mono"/>
                <a:cs typeface="Roboto Mono"/>
                <a:sym typeface="Roboto Mono"/>
              </a:rPr>
              <a:t>function</a:t>
            </a:r>
            <a:r>
              <a:rPr lang="en-US" sz="1200" b="0" i="0" u="none" strike="noStrike">
                <a:solidFill>
                  <a:srgbClr val="333333"/>
                </a:solidFill>
                <a:latin typeface="Roboto Mono"/>
                <a:ea typeface="Roboto Mono"/>
                <a:cs typeface="Roboto Mono"/>
                <a:sym typeface="Roboto Mono"/>
              </a:rPr>
              <a:t>register(string memory agentId, string memory pk) public {</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333333"/>
                </a:solidFill>
                <a:latin typeface="Roboto Mono"/>
                <a:ea typeface="Roboto Mono"/>
                <a:cs typeface="Roboto Mono"/>
                <a:sym typeface="Roboto Mono"/>
              </a:rPr>
              <a:t>require(agentPublicKeys[agentId] == "", "Duplicate ID"); // 唯一性校验</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333333"/>
                </a:solidFill>
                <a:latin typeface="Roboto Mono"/>
                <a:ea typeface="Roboto Mono"/>
                <a:cs typeface="Roboto Mono"/>
                <a:sym typeface="Roboto Mono"/>
              </a:rPr>
              <a:t>agentPublicKeys[agentId] = pk; agentStatus[agentId] = 0; emit AgentRegistered(agentId, pk);</a:t>
            </a:r>
            <a:br>
              <a:rPr lang="en-US" sz="1200" b="0" i="0" u="none" strike="noStrike">
                <a:solidFill>
                  <a:srgbClr val="1F2329"/>
                </a:solidFill>
                <a:latin typeface="Roboto Mono"/>
                <a:ea typeface="Roboto Mono"/>
                <a:cs typeface="Roboto Mono"/>
                <a:sym typeface="Roboto Mono"/>
              </a:rPr>
            </a:br>
            <a:r>
              <a:rPr lang="en-US" sz="1200" b="0" i="0" u="none" strike="noStrike">
                <a:solidFill>
                  <a:srgbClr val="333333"/>
                </a:solidFill>
                <a:latin typeface="Roboto Mono"/>
                <a:ea typeface="Roboto Mono"/>
                <a:cs typeface="Roboto Mono"/>
                <a:sym typeface="Roboto Mono"/>
              </a:rPr>
              <a:t>}</a:t>
            </a:r>
            <a:endParaRPr lang="en-US" sz="1100"/>
          </a:p>
        </p:txBody>
      </p:sp>
      <p:sp>
        <p:nvSpPr>
          <p:cNvPr id="8" name="AutoShape 8"/>
          <p:cNvSpPr/>
          <p:nvPr/>
        </p:nvSpPr>
        <p:spPr>
          <a:xfrm>
            <a:off x="762000" y="5461000"/>
            <a:ext cx="584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该合约作为系统的链上信任基石，通过以太坊虚拟机（EVM）的底层机制，实现了智能体身份与加密公钥的永久绑定，所有操作均上链可追溯，从代码层面保障身份数据的真实性与完整性。</a:t>
            </a:r>
            <a:endParaRPr lang="en-US" sz="1100"/>
          </a:p>
        </p:txBody>
      </p:sp>
      <p:cxnSp>
        <p:nvCxnSpPr>
          <p:cNvPr id="9" name="Connector 9"/>
          <p:cNvCxnSpPr/>
          <p:nvPr/>
        </p:nvCxnSpPr>
        <p:spPr>
          <a:xfrm rot="5390450">
            <a:off x="4572000" y="4057659"/>
            <a:ext cx="4572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0" name="AutoShape 10"/>
          <p:cNvSpPr/>
          <p:nvPr/>
        </p:nvSpPr>
        <p:spPr>
          <a:xfrm>
            <a:off x="7112000" y="1778000"/>
            <a:ext cx="4318000" cy="1270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112000" y="1778000"/>
            <a:ext cx="76200" cy="1270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6000" y="1968500"/>
            <a:ext cx="355600" cy="355600"/>
          </a:xfrm>
          <a:prstGeom prst="rect">
            <a:avLst/>
          </a:prstGeom>
        </p:spPr>
      </p:pic>
      <p:sp>
        <p:nvSpPr>
          <p:cNvPr id="13" name="AutoShape 13"/>
          <p:cNvSpPr/>
          <p:nvPr/>
        </p:nvSpPr>
        <p:spPr>
          <a:xfrm>
            <a:off x="7874000" y="1930400"/>
            <a:ext cx="336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身份唯一性保证</a:t>
            </a:r>
            <a:endParaRPr lang="en-US" sz="1100"/>
          </a:p>
        </p:txBody>
      </p:sp>
      <p:cxnSp>
        <p:nvCxnSpPr>
          <p:cNvPr id="14" name="Connector 14"/>
          <p:cNvCxnSpPr/>
          <p:nvPr/>
        </p:nvCxnSpPr>
        <p:spPr>
          <a:xfrm rot="-11459">
            <a:off x="7366011" y="2406650"/>
            <a:ext cx="3810000" cy="12700"/>
          </a:xfrm>
          <a:prstGeom prst="straightConnector1">
            <a:avLst/>
          </a:prstGeom>
          <a:solidFill>
            <a:srgbClr val="DEE0E3">
              <a:alpha val="100000"/>
            </a:srgbClr>
          </a:solidFill>
          <a:ln w="12700" cap="flat" cmpd="sng">
            <a:solidFill>
              <a:srgbClr val="00C896">
                <a:alpha val="20000"/>
              </a:srgbClr>
            </a:solidFill>
            <a:prstDash val="solid"/>
            <a:round/>
            <a:headEnd type="none" w="med" len="med"/>
            <a:tailEnd type="none" w="med" len="med"/>
          </a:ln>
        </p:spPr>
      </p:cxnSp>
      <p:sp>
        <p:nvSpPr>
          <p:cNvPr id="15" name="AutoShape 15"/>
          <p:cNvSpPr/>
          <p:nvPr/>
        </p:nvSpPr>
        <p:spPr>
          <a:xfrm>
            <a:off x="7366000" y="2540000"/>
            <a:ext cx="3937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合约内置严格的唯一性校验逻辑，确保每个智能体ID仅能完成一次注册，从技术源头杜绝身份重复与冒充问题。</a:t>
            </a:r>
            <a:endParaRPr lang="en-US" sz="1100"/>
          </a:p>
        </p:txBody>
      </p:sp>
      <p:sp>
        <p:nvSpPr>
          <p:cNvPr id="16" name="AutoShape 16"/>
          <p:cNvSpPr/>
          <p:nvPr/>
        </p:nvSpPr>
        <p:spPr>
          <a:xfrm>
            <a:off x="7112000" y="3365500"/>
            <a:ext cx="4318000" cy="1270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112000" y="3365500"/>
            <a:ext cx="76200" cy="1270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0" y="3556000"/>
            <a:ext cx="355600" cy="355600"/>
          </a:xfrm>
          <a:prstGeom prst="rect">
            <a:avLst/>
          </a:prstGeom>
        </p:spPr>
      </p:pic>
      <p:sp>
        <p:nvSpPr>
          <p:cNvPr id="19" name="AutoShape 19"/>
          <p:cNvSpPr/>
          <p:nvPr/>
        </p:nvSpPr>
        <p:spPr>
          <a:xfrm>
            <a:off x="7874000" y="3517900"/>
            <a:ext cx="336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核心数据不可篡改</a:t>
            </a:r>
            <a:endParaRPr lang="en-US" sz="1100"/>
          </a:p>
        </p:txBody>
      </p:sp>
      <p:cxnSp>
        <p:nvCxnSpPr>
          <p:cNvPr id="20" name="Connector 20"/>
          <p:cNvCxnSpPr/>
          <p:nvPr/>
        </p:nvCxnSpPr>
        <p:spPr>
          <a:xfrm rot="-11459">
            <a:off x="7366011" y="3994150"/>
            <a:ext cx="3810000" cy="12700"/>
          </a:xfrm>
          <a:prstGeom prst="straightConnector1">
            <a:avLst/>
          </a:prstGeom>
          <a:solidFill>
            <a:srgbClr val="DEE0E3">
              <a:alpha val="100000"/>
            </a:srgbClr>
          </a:solidFill>
          <a:ln w="12700" cap="flat" cmpd="sng">
            <a:solidFill>
              <a:srgbClr val="00C896">
                <a:alpha val="20000"/>
              </a:srgbClr>
            </a:solidFill>
            <a:prstDash val="solid"/>
            <a:round/>
            <a:headEnd type="none" w="med" len="med"/>
            <a:tailEnd type="none" w="med" len="med"/>
          </a:ln>
        </p:spPr>
      </p:cxnSp>
      <p:sp>
        <p:nvSpPr>
          <p:cNvPr id="21" name="AutoShape 21"/>
          <p:cNvSpPr/>
          <p:nvPr/>
        </p:nvSpPr>
        <p:spPr>
          <a:xfrm>
            <a:off x="7366000" y="4127500"/>
            <a:ext cx="3937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公钥信息一经写入区块链分布式账本，便永久固化且无法被任何主体恶意修改或删除，保障身份凭证的绝对可信。</a:t>
            </a:r>
            <a:endParaRPr lang="en-US" sz="1100"/>
          </a:p>
        </p:txBody>
      </p:sp>
      <p:sp>
        <p:nvSpPr>
          <p:cNvPr id="22" name="AutoShape 22"/>
          <p:cNvSpPr/>
          <p:nvPr/>
        </p:nvSpPr>
        <p:spPr>
          <a:xfrm>
            <a:off x="7112000" y="4953000"/>
            <a:ext cx="4318000" cy="1270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112000" y="4953000"/>
            <a:ext cx="76200" cy="1270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66000" y="5143500"/>
            <a:ext cx="355600" cy="355600"/>
          </a:xfrm>
          <a:prstGeom prst="rect">
            <a:avLst/>
          </a:prstGeom>
        </p:spPr>
      </p:pic>
      <p:sp>
        <p:nvSpPr>
          <p:cNvPr id="25" name="AutoShape 25"/>
          <p:cNvSpPr/>
          <p:nvPr/>
        </p:nvSpPr>
        <p:spPr>
          <a:xfrm>
            <a:off x="7874000" y="5105400"/>
            <a:ext cx="336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全生命周期状态管控</a:t>
            </a:r>
            <a:endParaRPr lang="en-US" sz="1100"/>
          </a:p>
        </p:txBody>
      </p:sp>
      <p:cxnSp>
        <p:nvCxnSpPr>
          <p:cNvPr id="26" name="Connector 26"/>
          <p:cNvCxnSpPr/>
          <p:nvPr/>
        </p:nvCxnSpPr>
        <p:spPr>
          <a:xfrm rot="-11459">
            <a:off x="7366011" y="5581650"/>
            <a:ext cx="3810000" cy="12700"/>
          </a:xfrm>
          <a:prstGeom prst="straightConnector1">
            <a:avLst/>
          </a:prstGeom>
          <a:solidFill>
            <a:srgbClr val="DEE0E3">
              <a:alpha val="100000"/>
            </a:srgbClr>
          </a:solidFill>
          <a:ln w="12700" cap="flat" cmpd="sng">
            <a:solidFill>
              <a:srgbClr val="00C896">
                <a:alpha val="20000"/>
              </a:srgbClr>
            </a:solidFill>
            <a:prstDash val="solid"/>
            <a:round/>
            <a:headEnd type="none" w="med" len="med"/>
            <a:tailEnd type="none" w="med" len="med"/>
          </a:ln>
        </p:spPr>
      </p:cxnSp>
      <p:sp>
        <p:nvSpPr>
          <p:cNvPr id="27" name="AutoShape 27"/>
          <p:cNvSpPr/>
          <p:nvPr/>
        </p:nvSpPr>
        <p:spPr>
          <a:xfrm>
            <a:off x="7366000" y="5689600"/>
            <a:ext cx="3937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支持对智能体状态进行动态更新，可对存在恶意行为的节点执行封禁操作，维护链上生态的安全与秩序。</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核心模块实现与技术细节</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07000" cy="5080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0800" cy="508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68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发送方：智能体消息签名机制</a:t>
            </a:r>
            <a:endParaRPr lang="en-US" sz="1100"/>
          </a:p>
        </p:txBody>
      </p:sp>
      <p:sp>
        <p:nvSpPr>
          <p:cNvPr id="7" name="AutoShape 7"/>
          <p:cNvSpPr/>
          <p:nvPr/>
        </p:nvSpPr>
        <p:spPr>
          <a:xfrm>
            <a:off x="762000" y="2667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智能体在发送动作决策前，自动构造包含身份ID、动作指令与时间戳的消息体，利用本地私钥对消息进行ECDSA签名，确保消息来源可追溯且内容未被篡改。</a:t>
            </a:r>
            <a:endParaRPr lang="en-US" sz="1100"/>
          </a:p>
        </p:txBody>
      </p:sp>
      <p:sp>
        <p:nvSpPr>
          <p:cNvPr id="8" name="AutoShape 8"/>
          <p:cNvSpPr/>
          <p:nvPr/>
        </p:nvSpPr>
        <p:spPr>
          <a:xfrm>
            <a:off x="762000" y="3810000"/>
            <a:ext cx="5207000" cy="2413000"/>
          </a:xfrm>
          <a:prstGeom prst="roundRect">
            <a:avLst>
              <a:gd name="adj" fmla="val 0"/>
            </a:avLst>
          </a:prstGeom>
          <a:solidFill>
            <a:srgbClr val="F7F8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889000" y="3937000"/>
            <a:ext cx="4953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def send_action(self, action):</a:t>
            </a:r>
            <a:endParaRPr lang="en-US" sz="1100"/>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1. 构造含ID与时间戳的消息体</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msg = { "agent_id": self.id, "action": action, "ts": time.time() }</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2. 使用私钥对消息字符串进行签名</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sig = self.ecdsa.sign(json.dumps(msg))</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3. 网络传输「原始数据 + 数字签名」包</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self.network.send({ "data": msg, "signature": sig })</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p:txBody>
      </p:sp>
      <p:cxnSp>
        <p:nvCxnSpPr>
          <p:cNvPr id="10" name="Connector 10"/>
          <p:cNvCxnSpPr/>
          <p:nvPr/>
        </p:nvCxnSpPr>
        <p:spPr>
          <a:xfrm rot="5390177">
            <a:off x="4000500" y="4121159"/>
            <a:ext cx="4445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6477000" y="1905000"/>
            <a:ext cx="5207000" cy="5080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905000"/>
            <a:ext cx="50800" cy="508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67500" y="1968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接收方：共识节点签名验证流程</a:t>
            </a:r>
            <a:endParaRPr lang="en-US" sz="1100"/>
          </a:p>
        </p:txBody>
      </p:sp>
      <p:sp>
        <p:nvSpPr>
          <p:cNvPr id="14" name="AutoShape 14"/>
          <p:cNvSpPr/>
          <p:nvPr/>
        </p:nvSpPr>
        <p:spPr>
          <a:xfrm>
            <a:off x="6477000" y="2667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共识节点接收到消息后，先解析消息体获取发送方ID，再从区块链账本中调取对应公钥，对消息签名进行验真。仅通过验证的消息才会被处理，否则直接丢弃并记录异常日志。</a:t>
            </a:r>
            <a:endParaRPr lang="en-US" sz="1100"/>
          </a:p>
        </p:txBody>
      </p:sp>
      <p:sp>
        <p:nvSpPr>
          <p:cNvPr id="15" name="AutoShape 15"/>
          <p:cNvSpPr/>
          <p:nvPr/>
        </p:nvSpPr>
        <p:spPr>
          <a:xfrm>
            <a:off x="6477000" y="3810000"/>
            <a:ext cx="5207000" cy="2413000"/>
          </a:xfrm>
          <a:prstGeom prst="roundRect">
            <a:avLst>
              <a:gd name="adj" fmla="val 0"/>
            </a:avLst>
          </a:prstGeom>
          <a:solidFill>
            <a:srgbClr val="F7F8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3937000"/>
            <a:ext cx="4953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def receive_message(self, packet):</a:t>
            </a:r>
            <a:endParaRPr lang="en-US" sz="1100"/>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1. 分离原始消息与签名，解析出发送方身份</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msg, sig = packet["data"], packet["signature"]</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2. 从链上获取发送方公钥用于验签</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pub_key = self.chain.get_pubkey(msg["agent_id"])</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rPr>
              <a:t># 3. 验证签名有效性，决定是否处理消息</a:t>
            </a:r>
            <a:endParaRPr lang="en-US" sz="1200" b="0" i="0" u="none" strike="noStrike">
              <a:solidFill>
                <a:srgbClr val="555555"/>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rPr>
              <a:t>if self.ecdsa.verify(json.dumps(msg), sig, pub_key): self.process(msg)</a:t>
            </a:r>
            <a:endParaRPr lang="en-US" sz="1200" b="0" i="0" u="none" strike="noStrike">
              <a:solidFill>
                <a:srgbClr val="333333"/>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系统演示与成果验证</a:t>
            </a:r>
            <a:endParaRPr lang="en-US" sz="1100"/>
          </a:p>
        </p:txBody>
      </p:sp>
      <p:sp>
        <p:nvSpPr>
          <p:cNvPr id="3" name="AutoShape 3"/>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为直观呈现系统运行机制与智能体交互过程，基于 PyQt5 框架开发了可视化监控面板，实现了多智能体状态、环境交互、性能指标及安全告警的一体化实时展示，完成了从抽象逻辑到具象呈现的成果转化。</a:t>
            </a:r>
            <a:endParaRPr lang="en-US" sz="1100"/>
          </a:p>
        </p:txBody>
      </p:sp>
      <p:cxnSp>
        <p:nvCxnSpPr>
          <p:cNvPr id="4" name="Connector 4"/>
          <p:cNvCxnSpPr/>
          <p:nvPr/>
        </p:nvCxnSpPr>
        <p:spPr>
          <a:xfrm rot="-4092">
            <a:off x="762004" y="2533650"/>
            <a:ext cx="10668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 name="AutoShape 5"/>
          <p:cNvSpPr/>
          <p:nvPr/>
        </p:nvSpPr>
        <p:spPr>
          <a:xfrm>
            <a:off x="762000" y="2794000"/>
            <a:ext cx="5270500" cy="1651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794000"/>
            <a:ext cx="50800" cy="1651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984500"/>
            <a:ext cx="406400" cy="406400"/>
          </a:xfrm>
          <a:prstGeom prst="rect">
            <a:avLst/>
          </a:prstGeom>
        </p:spPr>
      </p:pic>
      <p:sp>
        <p:nvSpPr>
          <p:cNvPr id="8" name="AutoShape 8"/>
          <p:cNvSpPr/>
          <p:nvPr/>
        </p:nvSpPr>
        <p:spPr>
          <a:xfrm>
            <a:off x="1587500" y="2946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智能体身份与状态全景视图</a:t>
            </a:r>
            <a:endParaRPr lang="en-US" sz="1100"/>
          </a:p>
        </p:txBody>
      </p:sp>
      <p:cxnSp>
        <p:nvCxnSpPr>
          <p:cNvPr id="9" name="Connector 9"/>
          <p:cNvCxnSpPr/>
          <p:nvPr/>
        </p:nvCxnSpPr>
        <p:spPr>
          <a:xfrm rot="-9167">
            <a:off x="1016008" y="35496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0" name="AutoShape 10"/>
          <p:cNvSpPr/>
          <p:nvPr/>
        </p:nvSpPr>
        <p:spPr>
          <a:xfrm>
            <a:off x="1016000" y="3683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实时展示所有在线智能体的唯一ID、公钥摘要、积分余额及连接状态，构建完整的智能体身份档案库，支持对单一智能体的全生命周期行为进行回溯与关联分析。</a:t>
            </a:r>
            <a:endParaRPr lang="en-US" sz="1100"/>
          </a:p>
        </p:txBody>
      </p:sp>
      <p:sp>
        <p:nvSpPr>
          <p:cNvPr id="11" name="AutoShape 11"/>
          <p:cNvSpPr/>
          <p:nvPr/>
        </p:nvSpPr>
        <p:spPr>
          <a:xfrm>
            <a:off x="6159500" y="2794000"/>
            <a:ext cx="5270500" cy="1651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159500" y="2794000"/>
            <a:ext cx="50800" cy="1651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984500"/>
            <a:ext cx="406400" cy="406400"/>
          </a:xfrm>
          <a:prstGeom prst="rect">
            <a:avLst/>
          </a:prstGeom>
        </p:spPr>
      </p:pic>
      <p:sp>
        <p:nvSpPr>
          <p:cNvPr id="14" name="AutoShape 14"/>
          <p:cNvSpPr/>
          <p:nvPr/>
        </p:nvSpPr>
        <p:spPr>
          <a:xfrm>
            <a:off x="6985000" y="2946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MPE 多智能体环境动态交互仿真</a:t>
            </a:r>
            <a:endParaRPr lang="en-US" sz="1100"/>
          </a:p>
        </p:txBody>
      </p:sp>
      <p:cxnSp>
        <p:nvCxnSpPr>
          <p:cNvPr id="15" name="Connector 15"/>
          <p:cNvCxnSpPr/>
          <p:nvPr/>
        </p:nvCxnSpPr>
        <p:spPr>
          <a:xfrm rot="-9167">
            <a:off x="6413508" y="35496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6" name="AutoShape 16"/>
          <p:cNvSpPr/>
          <p:nvPr/>
        </p:nvSpPr>
        <p:spPr>
          <a:xfrm>
            <a:off x="6413500" y="3683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以图形化动画还原智能体在环境中的移动、资源交互与协作博弈过程，将抽象的策略执行转化为直观的视觉反馈，清晰呈现智能体间的消息传递与状态同步逻辑。</a:t>
            </a:r>
            <a:endParaRPr lang="en-US" sz="1100"/>
          </a:p>
        </p:txBody>
      </p:sp>
      <p:sp>
        <p:nvSpPr>
          <p:cNvPr id="17" name="AutoShape 17"/>
          <p:cNvSpPr/>
          <p:nvPr/>
        </p:nvSpPr>
        <p:spPr>
          <a:xfrm>
            <a:off x="762000" y="4699000"/>
            <a:ext cx="5270500" cy="1651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4699000"/>
            <a:ext cx="50800" cy="1651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406400" cy="406400"/>
          </a:xfrm>
          <a:prstGeom prst="rect">
            <a:avLst/>
          </a:prstGeom>
        </p:spPr>
      </p:pic>
      <p:sp>
        <p:nvSpPr>
          <p:cNvPr id="20" name="AutoShape 20"/>
          <p:cNvSpPr/>
          <p:nvPr/>
        </p:nvSpPr>
        <p:spPr>
          <a:xfrm>
            <a:off x="1587500" y="485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系统核心性能指标实时追踪</a:t>
            </a:r>
            <a:endParaRPr lang="en-US" sz="1100"/>
          </a:p>
        </p:txBody>
      </p:sp>
      <p:cxnSp>
        <p:nvCxnSpPr>
          <p:cNvPr id="21" name="Connector 21"/>
          <p:cNvCxnSpPr/>
          <p:nvPr/>
        </p:nvCxnSpPr>
        <p:spPr>
          <a:xfrm rot="-9167">
            <a:off x="1016008" y="54546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2" name="AutoShape 22"/>
          <p:cNvSpPr/>
          <p:nvPr/>
        </p:nvSpPr>
        <p:spPr>
          <a:xfrm>
            <a:off x="1016000" y="55626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集成动态时序图表，实时绘制系统 TPS、消息平均处理延迟及全局奖励值的变化趋势，支持按时间粒度缩放分析，为系统性能优化与参数调优提供数据支撑。</a:t>
            </a:r>
            <a:endParaRPr lang="en-US" sz="1100"/>
          </a:p>
        </p:txBody>
      </p:sp>
      <p:sp>
        <p:nvSpPr>
          <p:cNvPr id="23" name="AutoShape 23"/>
          <p:cNvSpPr/>
          <p:nvPr/>
        </p:nvSpPr>
        <p:spPr>
          <a:xfrm>
            <a:off x="6159500" y="4699000"/>
            <a:ext cx="5270500" cy="1651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159500" y="4699000"/>
            <a:ext cx="50800" cy="1651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889500"/>
            <a:ext cx="406400" cy="406400"/>
          </a:xfrm>
          <a:prstGeom prst="rect">
            <a:avLst/>
          </a:prstGeom>
        </p:spPr>
      </p:pic>
      <p:sp>
        <p:nvSpPr>
          <p:cNvPr id="26" name="AutoShape 26"/>
          <p:cNvSpPr/>
          <p:nvPr/>
        </p:nvSpPr>
        <p:spPr>
          <a:xfrm>
            <a:off x="6985000" y="485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全链路安全审计与异常告警响应</a:t>
            </a:r>
            <a:endParaRPr lang="en-US" sz="1100"/>
          </a:p>
        </p:txBody>
      </p:sp>
      <p:cxnSp>
        <p:nvCxnSpPr>
          <p:cNvPr id="27" name="Connector 27"/>
          <p:cNvCxnSpPr/>
          <p:nvPr/>
        </p:nvCxnSpPr>
        <p:spPr>
          <a:xfrm rot="-9167">
            <a:off x="6413508" y="54546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28" name="AutoShape 28"/>
          <p:cNvSpPr/>
          <p:nvPr/>
        </p:nvSpPr>
        <p:spPr>
          <a:xfrm>
            <a:off x="6413500" y="55626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完整记录区块确认、交易上链等关键事件；在模拟攻击场景下，可实时捕获无效签名、数据篡改行为，并触发高亮告警，精准定位异常来源，验证系统安全防御能力。</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系统演示与成果验证</a:t>
            </a:r>
            <a:endParaRPr lang="en-US" sz="1100"/>
          </a:p>
        </p:txBody>
      </p:sp>
      <p:sp>
        <p:nvSpPr>
          <p:cNvPr id="3" name="AutoShape 3"/>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为验证系统核心安全机制的有效性，我们针对ECDSA数字签名算法设计了两组模拟攻击对比实验，分别测试其在消息完整性与身份认证场景下的防御能力。</a:t>
            </a:r>
            <a:endParaRPr lang="en-US" sz="1100"/>
          </a:p>
        </p:txBody>
      </p:sp>
      <p:cxnSp>
        <p:nvCxnSpPr>
          <p:cNvPr id="4" name="Connector 4"/>
          <p:cNvCxnSpPr/>
          <p:nvPr/>
        </p:nvCxnSpPr>
        <p:spPr>
          <a:xfrm rot="-4092">
            <a:off x="762004" y="2406650"/>
            <a:ext cx="10668000" cy="12700"/>
          </a:xfrm>
          <a:prstGeom prst="straightConnector1">
            <a:avLst/>
          </a:prstGeom>
          <a:solidFill>
            <a:srgbClr val="DEE0E3">
              <a:alpha val="100000"/>
            </a:srgbClr>
          </a:solidFill>
          <a:ln w="12700" cap="flat" cmpd="sng">
            <a:solidFill>
              <a:srgbClr val="00C896">
                <a:alpha val="30000"/>
              </a:srgbClr>
            </a:solidFill>
            <a:prstDash val="solid"/>
            <a:round/>
            <a:headEnd type="none" w="med" len="med"/>
            <a:tailEnd type="none" w="med" len="med"/>
          </a:ln>
        </p:spPr>
      </p:cxnSp>
      <p:sp>
        <p:nvSpPr>
          <p:cNvPr id="5" name="AutoShape 5"/>
          <p:cNvSpPr/>
          <p:nvPr/>
        </p:nvSpPr>
        <p:spPr>
          <a:xfrm>
            <a:off x="762000" y="2667000"/>
            <a:ext cx="5270500" cy="27940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667000"/>
            <a:ext cx="76200" cy="2794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85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实验一：消息篡改攻击模拟</a:t>
            </a:r>
            <a:endParaRPr lang="en-US" sz="1100"/>
          </a:p>
        </p:txBody>
      </p:sp>
      <p:cxnSp>
        <p:nvCxnSpPr>
          <p:cNvPr id="8" name="Connector 8"/>
          <p:cNvCxnSpPr/>
          <p:nvPr/>
        </p:nvCxnSpPr>
        <p:spPr>
          <a:xfrm rot="-9167">
            <a:off x="1016008" y="33591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1016000" y="3556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攻击手段：</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恶意节点在传输链路中截获合法消息包，篡改负载内容后重新注入网络，试图破坏系统指令一致性。</a:t>
            </a:r>
            <a:endParaRPr lang="en-US" sz="1100"/>
          </a:p>
        </p:txBody>
      </p:sp>
      <p:sp>
        <p:nvSpPr>
          <p:cNvPr id="10" name="AutoShape 10"/>
          <p:cNvSpPr/>
          <p:nvPr/>
        </p:nvSpPr>
        <p:spPr>
          <a:xfrm>
            <a:off x="1016000" y="4572000"/>
            <a:ext cx="2349500" cy="889000"/>
          </a:xfrm>
          <a:prstGeom prst="roundRect">
            <a:avLst>
              <a:gd name="adj" fmla="val 0"/>
            </a:avLst>
          </a:prstGeom>
          <a:solidFill>
            <a:srgbClr val="EF4444">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17600" y="4635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无ECDSA防护：</a:t>
            </a:r>
            <a:endParaRPr lang="en-US" sz="1100"/>
          </a:p>
          <a:p>
            <a:pPr marL="0" indent="0" algn="l">
              <a:lnSpc>
                <a:spcPct val="100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系统接收并执行篡改消息，导致多节点协作逻辑冲突，任务执行失败。</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3492500" y="4572000"/>
            <a:ext cx="2349500" cy="8890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94100" y="4635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0966E"/>
                </a:solidFill>
                <a:latin typeface="Noto Sans SC" panose="020B0200000000000000" charset="-122"/>
                <a:ea typeface="Noto Sans SC" panose="020B0200000000000000" charset="-122"/>
                <a:cs typeface="Noto Sans SC" panose="020B0200000000000000" charset="-122"/>
                <a:sym typeface="Noto Sans SC" panose="020B0200000000000000" charset="-122"/>
              </a:rPr>
              <a:t>启用ECDSA防护：</a:t>
            </a:r>
            <a:endParaRPr lang="en-US" sz="1100"/>
          </a:p>
          <a:p>
            <a:pPr marL="0" indent="0" algn="l">
              <a:lnSpc>
                <a:spcPct val="100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签名校验不通过，接收端直接丢弃非法数据包，系统运行未受任何干扰。</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86500" y="2667000"/>
            <a:ext cx="5270500" cy="27940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86500" y="2667000"/>
            <a:ext cx="76200" cy="2794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285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实验二：身份伪造攻击模拟</a:t>
            </a:r>
            <a:endParaRPr lang="en-US" sz="1100"/>
          </a:p>
        </p:txBody>
      </p:sp>
      <p:cxnSp>
        <p:nvCxnSpPr>
          <p:cNvPr id="17" name="Connector 17"/>
          <p:cNvCxnSpPr/>
          <p:nvPr/>
        </p:nvCxnSpPr>
        <p:spPr>
          <a:xfrm rot="-9167">
            <a:off x="6540508" y="3359150"/>
            <a:ext cx="476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8" name="AutoShape 18"/>
          <p:cNvSpPr/>
          <p:nvPr/>
        </p:nvSpPr>
        <p:spPr>
          <a:xfrm>
            <a:off x="6540500" y="3556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攻击手段：</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攻击者盗用合法节点的ID标识，构造伪造的控制指令发送至系统，尝试以合法身份执行越权操作。</a:t>
            </a:r>
            <a:endParaRPr lang="en-US" sz="1100"/>
          </a:p>
        </p:txBody>
      </p:sp>
      <p:sp>
        <p:nvSpPr>
          <p:cNvPr id="19" name="AutoShape 19"/>
          <p:cNvSpPr/>
          <p:nvPr/>
        </p:nvSpPr>
        <p:spPr>
          <a:xfrm>
            <a:off x="6540500" y="4572000"/>
            <a:ext cx="2349500" cy="889000"/>
          </a:xfrm>
          <a:prstGeom prst="roundRect">
            <a:avLst>
              <a:gd name="adj" fmla="val 0"/>
            </a:avLst>
          </a:prstGeom>
          <a:solidFill>
            <a:srgbClr val="EF4444">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42100" y="4635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无ECDSA防护：</a:t>
            </a:r>
            <a:endParaRPr lang="en-US" sz="1100"/>
          </a:p>
          <a:p>
            <a:pPr marL="0" indent="0" algn="l">
              <a:lnSpc>
                <a:spcPct val="100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系统仅校验ID，无法识别身份冒用，错误执行伪造指令，造成权限管理体系失效。</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9017000" y="4572000"/>
            <a:ext cx="2349500" cy="889000"/>
          </a:xfrm>
          <a:prstGeom prst="roundRect">
            <a:avLst>
              <a:gd name="adj" fmla="val 0"/>
            </a:avLst>
          </a:prstGeom>
          <a:solidFill>
            <a:srgbClr val="00C896">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9118600" y="46355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0966E"/>
                </a:solidFill>
                <a:latin typeface="Noto Sans SC" panose="020B0200000000000000" charset="-122"/>
                <a:ea typeface="Noto Sans SC" panose="020B0200000000000000" charset="-122"/>
                <a:cs typeface="Noto Sans SC" panose="020B0200000000000000" charset="-122"/>
                <a:sym typeface="Noto Sans SC" panose="020B0200000000000000" charset="-122"/>
              </a:rPr>
              <a:t>启用ECDSA防护：</a:t>
            </a:r>
            <a:endParaRPr lang="en-US" sz="1100"/>
          </a:p>
          <a:p>
            <a:pPr marL="0" indent="0" algn="l">
              <a:lnSpc>
                <a:spcPct val="100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通过被冒充节点的公钥验证签名失败，攻击请求被实时拦截，身份认证机制稳固有效。</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762000" y="5715000"/>
            <a:ext cx="10795000" cy="889000"/>
          </a:xfrm>
          <a:prstGeom prst="roundRect">
            <a:avLst>
              <a:gd name="adj" fmla="val 0"/>
            </a:avLst>
          </a:prstGeom>
          <a:solidFill>
            <a:srgbClr val="333333">
              <a:alpha val="3000"/>
            </a:srgbClr>
          </a:solidFill>
          <a:ln w="12700" cap="flat" cmpd="sng">
            <a:solidFill>
              <a:srgbClr val="00C896">
                <a:alpha val="5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956300"/>
            <a:ext cx="406400" cy="406400"/>
          </a:xfrm>
          <a:prstGeom prst="rect">
            <a:avLst/>
          </a:prstGeom>
        </p:spPr>
      </p:pic>
      <p:sp>
        <p:nvSpPr>
          <p:cNvPr id="25" name="AutoShape 25"/>
          <p:cNvSpPr/>
          <p:nvPr/>
        </p:nvSpPr>
        <p:spPr>
          <a:xfrm>
            <a:off x="1651000" y="5842000"/>
            <a:ext cx="965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验证结论：</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实验数据表明，ECDSA数字签名机制能够从根源上抵御消息篡改与身份伪造两类核心攻击，确保了系统通信过程中的数据完整性与身份真实性，为协作系统构建了可靠的安全信任基石。</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系统演示与成果验证</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2032000"/>
            <a:ext cx="3429000" cy="31750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286000"/>
            <a:ext cx="304800" cy="304800"/>
          </a:xfrm>
          <a:prstGeom prst="rect">
            <a:avLst/>
          </a:prstGeom>
        </p:spPr>
      </p:pic>
      <p:sp>
        <p:nvSpPr>
          <p:cNvPr id="7" name="AutoShape 7"/>
          <p:cNvSpPr/>
          <p:nvPr/>
        </p:nvSpPr>
        <p:spPr>
          <a:xfrm>
            <a:off x="13970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签名/验证性能量化</a:t>
            </a:r>
            <a:endParaRPr lang="en-US" sz="1100"/>
          </a:p>
        </p:txBody>
      </p:sp>
      <p:cxnSp>
        <p:nvCxnSpPr>
          <p:cNvPr id="8" name="Connector 8"/>
          <p:cNvCxnSpPr/>
          <p:nvPr/>
        </p:nvCxnSpPr>
        <p:spPr>
          <a:xfrm rot="-14323">
            <a:off x="9525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9" name="AutoShape 9"/>
          <p:cNvSpPr/>
          <p:nvPr/>
        </p:nvSpPr>
        <p:spPr>
          <a:xfrm>
            <a:off x="952500" y="3175000"/>
            <a:ext cx="146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0.12</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ms/次</a:t>
            </a:r>
            <a:endParaRPr lang="en-US" sz="1100"/>
          </a:p>
          <a:p>
            <a:pPr marL="0"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ECDSA签名平均耗时</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0"/>
          <p:cNvCxnSpPr/>
          <p:nvPr/>
        </p:nvCxnSpPr>
        <p:spPr>
          <a:xfrm rot="5354166">
            <a:off x="2063750" y="3708442"/>
            <a:ext cx="9525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1" name="AutoShape 11"/>
          <p:cNvSpPr/>
          <p:nvPr/>
        </p:nvSpPr>
        <p:spPr>
          <a:xfrm>
            <a:off x="2667000" y="3175000"/>
            <a:ext cx="139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0.08</a:t>
            </a: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ms/次</a:t>
            </a:r>
            <a:endParaRPr lang="en-US" sz="1100"/>
          </a:p>
          <a:p>
            <a:pPr marL="0" indent="0" algn="l">
              <a:lnSpc>
                <a:spcPct val="125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ECDSA验证平均耗时</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952500" y="45720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结论：底层密码学操作效率极高，单次计算开销极低，对系统整体运行性能的影响可忽略不计。</a:t>
            </a:r>
            <a:endParaRPr lang="en-US" sz="1100"/>
          </a:p>
        </p:txBody>
      </p:sp>
      <p:sp>
        <p:nvSpPr>
          <p:cNvPr id="13" name="AutoShape 13"/>
          <p:cNvSpPr/>
          <p:nvPr/>
        </p:nvSpPr>
        <p:spPr>
          <a:xfrm>
            <a:off x="4445000" y="2032000"/>
            <a:ext cx="3429000" cy="31750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0" y="2032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286000"/>
            <a:ext cx="304800" cy="304800"/>
          </a:xfrm>
          <a:prstGeom prst="rect">
            <a:avLst/>
          </a:prstGeom>
        </p:spPr>
      </p:pic>
      <p:sp>
        <p:nvSpPr>
          <p:cNvPr id="16" name="AutoShape 16"/>
          <p:cNvSpPr/>
          <p:nvPr/>
        </p:nvSpPr>
        <p:spPr>
          <a:xfrm>
            <a:off x="50800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自私节点场景协作对比</a:t>
            </a:r>
            <a:endParaRPr lang="en-US" sz="1100"/>
          </a:p>
        </p:txBody>
      </p:sp>
      <p:cxnSp>
        <p:nvCxnSpPr>
          <p:cNvPr id="17" name="Connector 17"/>
          <p:cNvCxnSpPr/>
          <p:nvPr/>
        </p:nvCxnSpPr>
        <p:spPr>
          <a:xfrm rot="-14323">
            <a:off x="46355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8" name="AutoShape 18"/>
          <p:cNvSpPr/>
          <p:nvPr/>
        </p:nvSpPr>
        <p:spPr>
          <a:xfrm>
            <a:off x="4635500" y="3175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全局奖励提升幅度</a:t>
            </a:r>
            <a:endParaRPr lang="en-US" sz="1100"/>
          </a:p>
          <a:p>
            <a:pPr marL="0" indent="0" algn="l">
              <a:lnSpc>
                <a:spcPct val="125000"/>
              </a:lnSpc>
            </a:pPr>
            <a:r>
              <a:rPr lang="en-US" sz="3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+28.7%</a:t>
            </a:r>
            <a:endParaRPr lang="en-US" sz="3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4635500" y="45720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相比纯MARL方案在30%自私节点下的协作崩溃，融合区块链与ECDSA的系统能维持稳定协作，全局收益显著提升。</a:t>
            </a:r>
            <a:endParaRPr lang="en-US" sz="1100"/>
          </a:p>
        </p:txBody>
      </p:sp>
      <p:sp>
        <p:nvSpPr>
          <p:cNvPr id="20" name="AutoShape 20"/>
          <p:cNvSpPr/>
          <p:nvPr/>
        </p:nvSpPr>
        <p:spPr>
          <a:xfrm>
            <a:off x="8064500" y="2032000"/>
            <a:ext cx="3429000" cy="31750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064500" y="2032000"/>
            <a:ext cx="3429000" cy="508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286000"/>
            <a:ext cx="304800" cy="304800"/>
          </a:xfrm>
          <a:prstGeom prst="rect">
            <a:avLst/>
          </a:prstGeom>
        </p:spPr>
      </p:pic>
      <p:sp>
        <p:nvSpPr>
          <p:cNvPr id="23" name="AutoShape 23"/>
          <p:cNvSpPr/>
          <p:nvPr/>
        </p:nvSpPr>
        <p:spPr>
          <a:xfrm>
            <a:off x="8699500" y="2260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系统额外开销评估</a:t>
            </a:r>
            <a:endParaRPr lang="en-US" sz="1100"/>
          </a:p>
        </p:txBody>
      </p:sp>
      <p:cxnSp>
        <p:nvCxnSpPr>
          <p:cNvPr id="24" name="Connector 24"/>
          <p:cNvCxnSpPr/>
          <p:nvPr/>
        </p:nvCxnSpPr>
        <p:spPr>
          <a:xfrm rot="-14323">
            <a:off x="8255013" y="2914650"/>
            <a:ext cx="3048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5" name="AutoShape 25"/>
          <p:cNvSpPr/>
          <p:nvPr/>
        </p:nvSpPr>
        <p:spPr>
          <a:xfrm>
            <a:off x="8255000" y="3175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MARL训练速度影响</a:t>
            </a:r>
            <a:endParaRPr lang="en-US" sz="1100"/>
          </a:p>
          <a:p>
            <a:pPr marL="0" indent="0" algn="l">
              <a:lnSpc>
                <a:spcPct val="125000"/>
              </a:lnSpc>
            </a:pPr>
            <a:r>
              <a:rPr lang="en-US" sz="3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-8.5%</a:t>
            </a:r>
            <a:endParaRPr lang="en-US" sz="36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8255000" y="45720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引入密码学与链上记账机制后，训练速度仅有小幅下降，该开销在实际分布式系统部署中完全处于可接受范围。</a:t>
            </a:r>
            <a:endParaRPr lang="en-US" sz="1100"/>
          </a:p>
        </p:txBody>
      </p:sp>
      <p:sp>
        <p:nvSpPr>
          <p:cNvPr id="27" name="AutoShape 27"/>
          <p:cNvSpPr/>
          <p:nvPr/>
        </p:nvSpPr>
        <p:spPr>
          <a:xfrm>
            <a:off x="762000" y="5588000"/>
            <a:ext cx="10731500" cy="889000"/>
          </a:xfrm>
          <a:prstGeom prst="roundRect">
            <a:avLst>
              <a:gd name="adj" fmla="val 0"/>
            </a:avLst>
          </a:prstGeom>
          <a:solidFill>
            <a:srgbClr val="333333">
              <a:alpha val="4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588000"/>
            <a:ext cx="76200" cy="889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1016000" y="5715000"/>
            <a:ext cx="1022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综合结论：</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方案在提供不可篡改、抗抵赖的强安全保障前提下，成功将性能损耗控制在极低水平，同时在存在恶意节点的复杂环境中大幅提升了系统的协作稳定性与全局收益。</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397000"/>
            <a:ext cx="10668000" cy="25400"/>
          </a:xfrm>
          <a:prstGeom prst="roundRect">
            <a:avLst>
              <a:gd name="adj" fmla="val 0"/>
            </a:avLst>
          </a:prstGeom>
          <a:solidFill>
            <a:srgbClr val="00C896">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07000" cy="1905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05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95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全链路可信认证体系构建</a:t>
            </a:r>
            <a:endParaRPr lang="en-US" sz="1100"/>
          </a:p>
        </p:txBody>
      </p:sp>
      <p:cxnSp>
        <p:nvCxnSpPr>
          <p:cNvPr id="7" name="Connector 7"/>
          <p:cNvCxnSpPr/>
          <p:nvPr/>
        </p:nvCxnSpPr>
        <p:spPr>
          <a:xfrm rot="-9291">
            <a:off x="1016009" y="25971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8" name="AutoShape 8"/>
          <p:cNvSpPr/>
          <p:nvPr/>
        </p:nvSpPr>
        <p:spPr>
          <a:xfrm>
            <a:off x="1016000" y="2794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将ECDSA密码学算法深度嵌入MARL框架的身份校验、行为交互与数据流转全流程，从底层技术层面建立不可篡改的信任锚点，系统性解决了开放多智能体环境中的节点互信与数据可信问题。</a:t>
            </a:r>
            <a:endParaRPr lang="en-US" sz="1100"/>
          </a:p>
        </p:txBody>
      </p:sp>
      <p:sp>
        <p:nvSpPr>
          <p:cNvPr id="9" name="AutoShape 9"/>
          <p:cNvSpPr/>
          <p:nvPr/>
        </p:nvSpPr>
        <p:spPr>
          <a:xfrm>
            <a:off x="6223000" y="1905000"/>
            <a:ext cx="5207000" cy="1905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223000" y="1905000"/>
            <a:ext cx="76200" cy="1905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2095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安全性增强与性能开销的动态平衡</a:t>
            </a:r>
            <a:endParaRPr lang="en-US" sz="1100"/>
          </a:p>
        </p:txBody>
      </p:sp>
      <p:cxnSp>
        <p:nvCxnSpPr>
          <p:cNvPr id="12" name="Connector 12"/>
          <p:cNvCxnSpPr/>
          <p:nvPr/>
        </p:nvCxnSpPr>
        <p:spPr>
          <a:xfrm rot="-9291">
            <a:off x="6477009" y="25971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3" name="AutoShape 13"/>
          <p:cNvSpPr/>
          <p:nvPr/>
        </p:nvSpPr>
        <p:spPr>
          <a:xfrm>
            <a:off x="6477000" y="2794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采用RFC 6979标准强化ECDSA签名的抗碰撞性与不可预测性，同时设计异步批量上链与轻量级验证机制，将密码学运算的性能损耗控制在可接受范围，实现安全强度与系统效率的最优解。</a:t>
            </a:r>
            <a:endParaRPr lang="en-US" sz="1100"/>
          </a:p>
        </p:txBody>
      </p:sp>
      <p:sp>
        <p:nvSpPr>
          <p:cNvPr id="14" name="AutoShape 14"/>
          <p:cNvSpPr/>
          <p:nvPr/>
        </p:nvSpPr>
        <p:spPr>
          <a:xfrm>
            <a:off x="762000" y="4191000"/>
            <a:ext cx="5207000" cy="1905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191000"/>
            <a:ext cx="76200" cy="1905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4381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智能合约约束下的协作激励硬规则</a:t>
            </a:r>
            <a:endParaRPr lang="en-US" sz="1100"/>
          </a:p>
        </p:txBody>
      </p:sp>
      <p:cxnSp>
        <p:nvCxnSpPr>
          <p:cNvPr id="17" name="Connector 17"/>
          <p:cNvCxnSpPr/>
          <p:nvPr/>
        </p:nvCxnSpPr>
        <p:spPr>
          <a:xfrm rot="-9291">
            <a:off x="1016009" y="48831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18" name="AutoShape 18"/>
          <p:cNvSpPr/>
          <p:nvPr/>
        </p:nvSpPr>
        <p:spPr>
          <a:xfrm>
            <a:off x="1016000" y="5080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依托智能合约自动执行与ECDSA身份确权，固化“合作收益＞背叛收益”的博弈均衡条件，以技术机制替代人为干预，从利益根源上引导智能体主动选择协作策略，规避纳什均衡陷阱。</a:t>
            </a:r>
            <a:endParaRPr lang="en-US" sz="1100"/>
          </a:p>
        </p:txBody>
      </p:sp>
      <p:sp>
        <p:nvSpPr>
          <p:cNvPr id="19" name="AutoShape 19"/>
          <p:cNvSpPr/>
          <p:nvPr/>
        </p:nvSpPr>
        <p:spPr>
          <a:xfrm>
            <a:off x="6223000" y="4191000"/>
            <a:ext cx="5207000" cy="1905000"/>
          </a:xfrm>
          <a:prstGeom prst="roundRect">
            <a:avLst>
              <a:gd name="adj" fmla="val 0"/>
            </a:avLst>
          </a:prstGeom>
          <a:solidFill>
            <a:srgbClr val="00C896">
              <a:alpha val="6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4191000"/>
            <a:ext cx="76200" cy="19050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4381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04. 从理论模型到工程系统的完整落地</a:t>
            </a:r>
            <a:endParaRPr lang="en-US" sz="1100"/>
          </a:p>
        </p:txBody>
      </p:sp>
      <p:cxnSp>
        <p:nvCxnSpPr>
          <p:cNvPr id="22" name="Connector 22"/>
          <p:cNvCxnSpPr/>
          <p:nvPr/>
        </p:nvCxnSpPr>
        <p:spPr>
          <a:xfrm rot="-9291">
            <a:off x="6477009" y="4883150"/>
            <a:ext cx="4699000" cy="12700"/>
          </a:xfrm>
          <a:prstGeom prst="straightConnector1">
            <a:avLst/>
          </a:prstGeom>
          <a:solidFill>
            <a:srgbClr val="DEE0E3">
              <a:alpha val="100000"/>
            </a:srgbClr>
          </a:solidFill>
          <a:ln w="12700" cap="flat" cmpd="sng">
            <a:solidFill>
              <a:srgbClr val="333333">
                <a:alpha val="15000"/>
              </a:srgbClr>
            </a:solidFill>
            <a:prstDash val="solid"/>
            <a:round/>
            <a:headEnd type="none" w="med" len="med"/>
            <a:tailEnd type="none" w="med" len="med"/>
          </a:ln>
        </p:spPr>
      </p:cxnSp>
      <p:sp>
        <p:nvSpPr>
          <p:cNvPr id="23" name="AutoShape 23"/>
          <p:cNvSpPr/>
          <p:nvPr/>
        </p:nvSpPr>
        <p:spPr>
          <a:xfrm>
            <a:off x="6477000" y="5080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完成了从算法理论设计、核心模块代码实现到端到端系统演示的全链条工程化验证，提供了可复现、可扩展的标准化解决方案，为多智能体协作技术的工业化应用奠定了坚实的工程基础。</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3" name="AutoShape 3"/>
          <p:cNvSpPr/>
          <p:nvPr/>
        </p:nvSpPr>
        <p:spPr>
          <a:xfrm>
            <a:off x="762000" y="1460500"/>
            <a:ext cx="10668000" cy="25400"/>
          </a:xfrm>
          <a:prstGeom prst="roundRect">
            <a:avLst>
              <a:gd name="adj" fmla="val 0"/>
            </a:avLst>
          </a:prstGeom>
          <a:solidFill>
            <a:srgbClr val="00C896">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5270500" cy="1968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968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095500"/>
            <a:ext cx="355600" cy="355600"/>
          </a:xfrm>
          <a:prstGeom prst="rect">
            <a:avLst/>
          </a:prstGeom>
        </p:spPr>
      </p:pic>
      <p:sp>
        <p:nvSpPr>
          <p:cNvPr id="7" name="AutoShape 7"/>
          <p:cNvSpPr/>
          <p:nvPr/>
        </p:nvSpPr>
        <p:spPr>
          <a:xfrm>
            <a:off x="1587500" y="2057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后量子密码学兼容</a:t>
            </a:r>
            <a:endParaRPr lang="en-US" sz="1100"/>
          </a:p>
        </p:txBody>
      </p:sp>
      <p:cxnSp>
        <p:nvCxnSpPr>
          <p:cNvPr id="8" name="Connector 8"/>
          <p:cNvCxnSpPr/>
          <p:nvPr/>
        </p:nvCxnSpPr>
        <p:spPr>
          <a:xfrm rot="-9291">
            <a:off x="1079509" y="2660650"/>
            <a:ext cx="4699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9" name="AutoShape 9"/>
          <p:cNvSpPr/>
          <p:nvPr/>
        </p:nvSpPr>
        <p:spPr>
          <a:xfrm>
            <a:off x="1079500" y="2857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研究并集成抗量子攻击的签名算法（如CRYSTALS-Dilithium），与ECDSA形成混合签名体系，从底层加密层面构建防御机制，有效应对未来量子计算技术可能带来的安全威胁。</a:t>
            </a:r>
            <a:endParaRPr lang="en-US" sz="1100"/>
          </a:p>
        </p:txBody>
      </p:sp>
      <p:sp>
        <p:nvSpPr>
          <p:cNvPr id="10" name="AutoShape 10"/>
          <p:cNvSpPr/>
          <p:nvPr/>
        </p:nvSpPr>
        <p:spPr>
          <a:xfrm>
            <a:off x="6413500" y="1905000"/>
            <a:ext cx="5270500" cy="1968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1905000"/>
            <a:ext cx="76200" cy="1968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095500"/>
            <a:ext cx="355600" cy="355600"/>
          </a:xfrm>
          <a:prstGeom prst="rect">
            <a:avLst/>
          </a:prstGeom>
        </p:spPr>
      </p:pic>
      <p:sp>
        <p:nvSpPr>
          <p:cNvPr id="13" name="AutoShape 13"/>
          <p:cNvSpPr/>
          <p:nvPr/>
        </p:nvSpPr>
        <p:spPr>
          <a:xfrm>
            <a:off x="7239000" y="2057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更复杂的协作场景扩展</a:t>
            </a:r>
            <a:endParaRPr lang="en-US" sz="1100"/>
          </a:p>
        </p:txBody>
      </p:sp>
      <p:cxnSp>
        <p:nvCxnSpPr>
          <p:cNvPr id="14" name="Connector 14"/>
          <p:cNvCxnSpPr/>
          <p:nvPr/>
        </p:nvCxnSpPr>
        <p:spPr>
          <a:xfrm rot="-9291">
            <a:off x="6731009" y="2660650"/>
            <a:ext cx="4699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5" name="AutoShape 15"/>
          <p:cNvSpPr/>
          <p:nvPr/>
        </p:nvSpPr>
        <p:spPr>
          <a:xfrm>
            <a:off x="6731000" y="2857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将现有方案拓展至SMAC（星际争霸多智能体挑战赛）等高维、动态、非完全信息的MARL环境，验证算法在多目标冲突、长周期决策与大规模智能体交互任务下的有效性与适应性。</a:t>
            </a:r>
            <a:endParaRPr lang="en-US" sz="1100"/>
          </a:p>
        </p:txBody>
      </p:sp>
      <p:sp>
        <p:nvSpPr>
          <p:cNvPr id="16" name="AutoShape 16"/>
          <p:cNvSpPr/>
          <p:nvPr/>
        </p:nvSpPr>
        <p:spPr>
          <a:xfrm>
            <a:off x="762000" y="4318000"/>
            <a:ext cx="5270500" cy="1968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318000"/>
            <a:ext cx="76200" cy="1968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508500"/>
            <a:ext cx="355600" cy="355600"/>
          </a:xfrm>
          <a:prstGeom prst="rect">
            <a:avLst/>
          </a:prstGeom>
        </p:spPr>
      </p:pic>
      <p:sp>
        <p:nvSpPr>
          <p:cNvPr id="19" name="AutoShape 19"/>
          <p:cNvSpPr/>
          <p:nvPr/>
        </p:nvSpPr>
        <p:spPr>
          <a:xfrm>
            <a:off x="1587500" y="4470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真实物理世界部署验证</a:t>
            </a:r>
            <a:endParaRPr lang="en-US" sz="1100"/>
          </a:p>
        </p:txBody>
      </p:sp>
      <p:cxnSp>
        <p:nvCxnSpPr>
          <p:cNvPr id="20" name="Connector 20"/>
          <p:cNvCxnSpPr/>
          <p:nvPr/>
        </p:nvCxnSpPr>
        <p:spPr>
          <a:xfrm rot="-9291">
            <a:off x="1079509" y="5073650"/>
            <a:ext cx="4699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1" name="AutoShape 21"/>
          <p:cNvSpPr/>
          <p:nvPr/>
        </p:nvSpPr>
        <p:spPr>
          <a:xfrm>
            <a:off x="1079500" y="5270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推进方案在真实机器人或无人机集群中的物理部署，开展多机协同导航、任务分配与故障容错的实体实验，验证系统在通信延迟、环境噪声等真实干扰下的鲁棒性与稳定性。</a:t>
            </a:r>
            <a:endParaRPr lang="en-US" sz="1100"/>
          </a:p>
        </p:txBody>
      </p:sp>
      <p:sp>
        <p:nvSpPr>
          <p:cNvPr id="22" name="AutoShape 22"/>
          <p:cNvSpPr/>
          <p:nvPr/>
        </p:nvSpPr>
        <p:spPr>
          <a:xfrm>
            <a:off x="6413500" y="4318000"/>
            <a:ext cx="5270500" cy="1968500"/>
          </a:xfrm>
          <a:prstGeom prst="roundRect">
            <a:avLst>
              <a:gd name="adj" fmla="val 0"/>
            </a:avLst>
          </a:prstGeom>
          <a:solidFill>
            <a:srgbClr val="00C896">
              <a:alpha val="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13500" y="4318000"/>
            <a:ext cx="76200" cy="19685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4508500"/>
            <a:ext cx="355600" cy="355600"/>
          </a:xfrm>
          <a:prstGeom prst="rect">
            <a:avLst/>
          </a:prstGeom>
        </p:spPr>
      </p:pic>
      <p:sp>
        <p:nvSpPr>
          <p:cNvPr id="25" name="AutoShape 25"/>
          <p:cNvSpPr/>
          <p:nvPr/>
        </p:nvSpPr>
        <p:spPr>
          <a:xfrm>
            <a:off x="7239000" y="4470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系统性能深度优化</a:t>
            </a:r>
            <a:endParaRPr lang="en-US" sz="1100"/>
          </a:p>
        </p:txBody>
      </p:sp>
      <p:cxnSp>
        <p:nvCxnSpPr>
          <p:cNvPr id="26" name="Connector 26"/>
          <p:cNvCxnSpPr/>
          <p:nvPr/>
        </p:nvCxnSpPr>
        <p:spPr>
          <a:xfrm rot="-9291">
            <a:off x="6731009" y="5073650"/>
            <a:ext cx="46990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7" name="AutoShape 27"/>
          <p:cNvSpPr/>
          <p:nvPr/>
        </p:nvSpPr>
        <p:spPr>
          <a:xfrm>
            <a:off x="6731000" y="5270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探索轻量级共识算法与高效数据结构，进一步降低系统通信与计算延迟，提升整体吞吐量。优化资源调度策略，突破当前规模瓶颈，使其能够稳定支持更大数量级的智能体集群协作。</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E1E23">
                <a:alpha val="100000"/>
              </a:srgbClr>
            </a:gs>
            <a:gs pos="100000">
              <a:srgbClr val="32373C">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333333">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62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781800"/>
            <a:ext cx="12192000" cy="76200"/>
          </a:xfrm>
          <a:prstGeom prst="roundRect">
            <a:avLst>
              <a:gd name="adj" fmla="val 0"/>
            </a:avLst>
          </a:prstGeom>
          <a:solidFill>
            <a:srgbClr val="00C8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cxnSp>
        <p:nvCxnSpPr>
          <p:cNvPr id="6" name="Connector 6"/>
          <p:cNvCxnSpPr/>
          <p:nvPr/>
        </p:nvCxnSpPr>
        <p:spPr>
          <a:xfrm rot="-17188">
            <a:off x="4826016" y="3930650"/>
            <a:ext cx="2540000" cy="12700"/>
          </a:xfrm>
          <a:prstGeom prst="straightConnector1">
            <a:avLst/>
          </a:prstGeom>
          <a:solidFill>
            <a:srgbClr val="DEE0E3">
              <a:alpha val="100000"/>
            </a:srgbClr>
          </a:solidFill>
          <a:ln w="25400" cap="flat" cmpd="sng">
            <a:solidFill>
              <a:srgbClr val="00C896">
                <a:alpha val="100000"/>
              </a:srgbClr>
            </a:solidFill>
            <a:prstDash val="solid"/>
            <a:round/>
            <a:headEnd type="none" w="lg" len="lg"/>
            <a:tailEnd type="none" w="lg" len="lg"/>
          </a:ln>
        </p:spPr>
      </p:cxnSp>
      <p:sp>
        <p:nvSpPr>
          <p:cNvPr id="7" name="AutoShape 7"/>
          <p:cNvSpPr/>
          <p:nvPr/>
        </p:nvSpPr>
        <p:spPr>
          <a:xfrm>
            <a:off x="0" y="4445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00C896"/>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8" name="AutoShape 8"/>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欢迎各位老师、同学批评指正，提出宝贵意见与建议</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8984</Words>
  <Application>WPS 演示</Application>
  <PresentationFormat/>
  <Paragraphs>468</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22</vt:i4>
      </vt:variant>
    </vt:vector>
  </HeadingPairs>
  <TitlesOfParts>
    <vt:vector size="34" baseType="lpstr">
      <vt:lpstr>Arial</vt:lpstr>
      <vt:lpstr>宋体</vt:lpstr>
      <vt:lpstr>Wingdings</vt:lpstr>
      <vt:lpstr>Arial</vt:lpstr>
      <vt:lpstr>Noto Sans SC</vt:lpstr>
      <vt:lpstr>微软雅黑</vt:lpstr>
      <vt:lpstr>Arial Unicode MS</vt:lpstr>
      <vt:lpstr>Consolas</vt:lpstr>
      <vt:lpstr>Roboto Mono</vt:lpstr>
      <vt:lpstr>GreatCamp</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张敏杰</cp:lastModifiedBy>
  <cp:revision>2</cp:revision>
  <dcterms:created xsi:type="dcterms:W3CDTF">2026-06-23T03:15:49Z</dcterms:created>
  <dcterms:modified xsi:type="dcterms:W3CDTF">2026-06-23T04:06:48Z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{"Label":"1","ContentProducer":"001191110102MACQD9K64010000","ProduceID":"7654423425859898554","ReservedCode1":"","ContentPropagator":"","PropagateID":"","ReservedCode2":""}</vt:lpwstr>
  </property>
  <property fmtid="{D5CDD505-2E9C-101B-9397-08002B2CF9AE}" pid="3" name="KSOProductBuildVer">
    <vt:lpwstr>2052-12.1.0.26895</vt:lpwstr>
  </property>
  <property fmtid="{D5CDD505-2E9C-101B-9397-08002B2CF9AE}" pid="4" name="ICV">
    <vt:lpwstr>93342845D1274645A2073245C9E73B97_12</vt:lpwstr>
  </property>
</Properties>
</file>